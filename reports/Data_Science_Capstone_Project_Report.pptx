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1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2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slides/charts/chart3.xml" ContentType="application/vnd.openxmlformats-officedocument.drawingml.chart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slides/charts/chart4.xml" ContentType="application/vnd.openxmlformats-officedocument.drawingml.chart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slides/charts/chart5.xml" ContentType="application/vnd.openxmlformats-officedocument.drawingml.chart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7e8d5520344d20" /><Relationship Type="http://schemas.openxmlformats.org/officeDocument/2006/relationships/extended-properties" Target="/docProps/app.xml" Id="Rbe77bce659f64692" /><Relationship Type="http://schemas.openxmlformats.org/officeDocument/2006/relationships/officeDocument" Target="/ppt/presentation.xml" Id="Re407d2fe4cd142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0a045e59904488"/>
  </p:sldMasterIdLst>
  <p:notesMasterIdLst>
    <p:notesMasterId xmlns:r="http://schemas.openxmlformats.org/officeDocument/2006/relationships" r:id="Rc8a6686796c048e7"/>
  </p:notesMasterIdLst>
  <p:sldIdLst>
    <p:sldId xmlns:r="http://schemas.openxmlformats.org/officeDocument/2006/relationships" id="256" r:id="Ra53195da926d4484"/>
    <p:sldId xmlns:r="http://schemas.openxmlformats.org/officeDocument/2006/relationships" id="257" r:id="Re0a7c31b1f8b4da4"/>
    <p:sldId xmlns:r="http://schemas.openxmlformats.org/officeDocument/2006/relationships" id="258" r:id="R451578600c114263"/>
    <p:sldId xmlns:r="http://schemas.openxmlformats.org/officeDocument/2006/relationships" id="259" r:id="R79f4229ca7074367"/>
    <p:sldId xmlns:r="http://schemas.openxmlformats.org/officeDocument/2006/relationships" id="260" r:id="R48614e2721904c8e"/>
    <p:sldId xmlns:r="http://schemas.openxmlformats.org/officeDocument/2006/relationships" id="261" r:id="Rb6c5eb41feda4a51"/>
    <p:sldId xmlns:r="http://schemas.openxmlformats.org/officeDocument/2006/relationships" id="262" r:id="Ra80c1ca490f64b4f"/>
    <p:sldId xmlns:r="http://schemas.openxmlformats.org/officeDocument/2006/relationships" id="263" r:id="R2fed950686b849e7"/>
    <p:sldId xmlns:r="http://schemas.openxmlformats.org/officeDocument/2006/relationships" id="264" r:id="R6bdeb7249ace4a41"/>
    <p:sldId xmlns:r="http://schemas.openxmlformats.org/officeDocument/2006/relationships" id="265" r:id="R020c52f2e70446c6"/>
    <p:sldId xmlns:r="http://schemas.openxmlformats.org/officeDocument/2006/relationships" id="266" r:id="R4c6608562f3b4d4d"/>
    <p:sldId xmlns:r="http://schemas.openxmlformats.org/officeDocument/2006/relationships" id="267" r:id="Rd03c9c219c5e488d"/>
    <p:sldId xmlns:r="http://schemas.openxmlformats.org/officeDocument/2006/relationships" id="268" r:id="R3cb88bc0107b47bd"/>
    <p:sldId xmlns:r="http://schemas.openxmlformats.org/officeDocument/2006/relationships" id="269" r:id="Rd4bec9f12d6e4ab5"/>
    <p:sldId xmlns:r="http://schemas.openxmlformats.org/officeDocument/2006/relationships" id="270" r:id="R79b13ddf11b64f44"/>
    <p:sldId xmlns:r="http://schemas.openxmlformats.org/officeDocument/2006/relationships" id="271" r:id="R7739e6f4f8814cac"/>
    <p:sldId xmlns:r="http://schemas.openxmlformats.org/officeDocument/2006/relationships" id="272" r:id="Raa90363d0bab4031"/>
    <p:sldId xmlns:r="http://schemas.openxmlformats.org/officeDocument/2006/relationships" id="273" r:id="R98fe331c7f834ee0"/>
    <p:sldId xmlns:r="http://schemas.openxmlformats.org/officeDocument/2006/relationships" id="274" r:id="R6e081f7e50cd4ebb"/>
    <p:sldId xmlns:r="http://schemas.openxmlformats.org/officeDocument/2006/relationships" id="275" r:id="Reaecd4e5e6724b94"/>
    <p:sldId xmlns:r="http://schemas.openxmlformats.org/officeDocument/2006/relationships" id="276" r:id="R9fcfecb5fba645ab"/>
    <p:sldId xmlns:r="http://schemas.openxmlformats.org/officeDocument/2006/relationships" id="277" r:id="R6c5701ff5b9d4a97"/>
    <p:sldId xmlns:r="http://schemas.openxmlformats.org/officeDocument/2006/relationships" id="278" r:id="Rbc93ada3a52a4426"/>
    <p:sldId xmlns:r="http://schemas.openxmlformats.org/officeDocument/2006/relationships" id="279" r:id="Ra0d35d3c94064bb2"/>
    <p:sldId xmlns:r="http://schemas.openxmlformats.org/officeDocument/2006/relationships" id="280" r:id="R6fbc1ee49adf4172"/>
    <p:sldId xmlns:r="http://schemas.openxmlformats.org/officeDocument/2006/relationships" id="281" r:id="R314af824ad384a0f"/>
    <p:sldId xmlns:r="http://schemas.openxmlformats.org/officeDocument/2006/relationships" id="282" r:id="R5fabb36df00149a4"/>
    <p:sldId xmlns:r="http://schemas.openxmlformats.org/officeDocument/2006/relationships" id="283" r:id="R66ddcdc0d1f84550"/>
    <p:sldId xmlns:r="http://schemas.openxmlformats.org/officeDocument/2006/relationships" id="284" r:id="Raf807b75a41e4377"/>
    <p:sldId xmlns:r="http://schemas.openxmlformats.org/officeDocument/2006/relationships" id="285" r:id="R0d7f06850b044381"/>
    <p:sldId xmlns:r="http://schemas.openxmlformats.org/officeDocument/2006/relationships" id="286" r:id="R3ad13cd15e244656"/>
    <p:sldId xmlns:r="http://schemas.openxmlformats.org/officeDocument/2006/relationships" id="287" r:id="Rb419f32ce31943c3"/>
    <p:sldId xmlns:r="http://schemas.openxmlformats.org/officeDocument/2006/relationships" id="288" r:id="R3a3f93183f224537"/>
    <p:sldId xmlns:r="http://schemas.openxmlformats.org/officeDocument/2006/relationships" id="289" r:id="Racfd4e5ed6964624"/>
    <p:sldId xmlns:r="http://schemas.openxmlformats.org/officeDocument/2006/relationships" id="290" r:id="R3bafcea67ebb4ed9"/>
    <p:sldId xmlns:r="http://schemas.openxmlformats.org/officeDocument/2006/relationships" id="291" r:id="R3197934f5fbe4ab4"/>
    <p:sldId xmlns:r="http://schemas.openxmlformats.org/officeDocument/2006/relationships" id="292" r:id="R7983518f00df48c8"/>
    <p:sldId xmlns:r="http://schemas.openxmlformats.org/officeDocument/2006/relationships" id="293" r:id="Rd4d1b916f8f447c6"/>
    <p:sldId xmlns:r="http://schemas.openxmlformats.org/officeDocument/2006/relationships" id="294" r:id="R28d46fd339824b56"/>
    <p:sldId xmlns:r="http://schemas.openxmlformats.org/officeDocument/2006/relationships" id="295" r:id="R77e6efa070324e26"/>
    <p:sldId xmlns:r="http://schemas.openxmlformats.org/officeDocument/2006/relationships" id="296" r:id="R3de8bd63dfd8428d"/>
    <p:sldId xmlns:r="http://schemas.openxmlformats.org/officeDocument/2006/relationships" id="297" r:id="Re7f61c6e5e3942c9"/>
    <p:sldId xmlns:r="http://schemas.openxmlformats.org/officeDocument/2006/relationships" id="298" r:id="R9f21c67c1b014df0"/>
    <p:sldId xmlns:r="http://schemas.openxmlformats.org/officeDocument/2006/relationships" id="299" r:id="Rc6f4cb2502de43ac"/>
    <p:sldId xmlns:r="http://schemas.openxmlformats.org/officeDocument/2006/relationships" id="300" r:id="Rf9ffabceb5834f97"/>
    <p:sldId xmlns:r="http://schemas.openxmlformats.org/officeDocument/2006/relationships" id="301" r:id="R25a78e0b84cf4dd2"/>
    <p:sldId xmlns:r="http://schemas.openxmlformats.org/officeDocument/2006/relationships" id="302" r:id="R5b29996281e74c88"/>
    <p:sldId xmlns:r="http://schemas.openxmlformats.org/officeDocument/2006/relationships" id="303" r:id="R05831f4306ee40c5"/>
    <p:sldId xmlns:r="http://schemas.openxmlformats.org/officeDocument/2006/relationships" id="304" r:id="R688254ee61e846a9"/>
    <p:sldId xmlns:r="http://schemas.openxmlformats.org/officeDocument/2006/relationships" id="305" r:id="R87edcefa67264f6d"/>
    <p:sldId xmlns:r="http://schemas.openxmlformats.org/officeDocument/2006/relationships" id="306" r:id="Rfdb8296336dd494c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a9d04424314733" /><Relationship Type="http://schemas.openxmlformats.org/officeDocument/2006/relationships/slideMaster" Target="/ppt/slideMasters/slideMaster1.xml" Id="Rba0a045e59904488" /><Relationship Type="http://schemas.openxmlformats.org/officeDocument/2006/relationships/notesMaster" Target="/ppt/notesMasters/notesMaster1.xml" Id="Rc8a6686796c048e7" /><Relationship Type="http://schemas.openxmlformats.org/officeDocument/2006/relationships/presProps" Target="/ppt/presProps.xml" Id="Rd7b94297ff374a65" /><Relationship Type="http://schemas.openxmlformats.org/officeDocument/2006/relationships/viewProps" Target="/ppt/viewProps.xml" Id="R4735aea3c55047ba" /><Relationship Type="http://schemas.openxmlformats.org/officeDocument/2006/relationships/tableStyles" Target="/ppt/tableStyles.xml" Id="R34669029dce44296" /><Relationship Type="http://schemas.openxmlformats.org/officeDocument/2006/relationships/slide" Target="/ppt/slides/slide1.xml" Id="Ra53195da926d4484" /><Relationship Type="http://schemas.openxmlformats.org/officeDocument/2006/relationships/slide" Target="/ppt/slides/slide2.xml" Id="Re0a7c31b1f8b4da4" /><Relationship Type="http://schemas.openxmlformats.org/officeDocument/2006/relationships/slide" Target="/ppt/slides/slide3.xml" Id="R451578600c114263" /><Relationship Type="http://schemas.openxmlformats.org/officeDocument/2006/relationships/slide" Target="/ppt/slides/slide4.xml" Id="R79f4229ca7074367" /><Relationship Type="http://schemas.openxmlformats.org/officeDocument/2006/relationships/slide" Target="/ppt/slides/slide5.xml" Id="R48614e2721904c8e" /><Relationship Type="http://schemas.openxmlformats.org/officeDocument/2006/relationships/slide" Target="/ppt/slides/slide6.xml" Id="Rb6c5eb41feda4a51" /><Relationship Type="http://schemas.openxmlformats.org/officeDocument/2006/relationships/slide" Target="/ppt/slides/slide7.xml" Id="Ra80c1ca490f64b4f" /><Relationship Type="http://schemas.openxmlformats.org/officeDocument/2006/relationships/slide" Target="/ppt/slides/slide8.xml" Id="R2fed950686b849e7" /><Relationship Type="http://schemas.openxmlformats.org/officeDocument/2006/relationships/slide" Target="/ppt/slides/slide9.xml" Id="R6bdeb7249ace4a41" /><Relationship Type="http://schemas.openxmlformats.org/officeDocument/2006/relationships/slide" Target="/ppt/slides/slide10.xml" Id="R020c52f2e70446c6" /><Relationship Type="http://schemas.openxmlformats.org/officeDocument/2006/relationships/slide" Target="/ppt/slides/slide11.xml" Id="R4c6608562f3b4d4d" /><Relationship Type="http://schemas.openxmlformats.org/officeDocument/2006/relationships/slide" Target="/ppt/slides/slide12.xml" Id="Rd03c9c219c5e488d" /><Relationship Type="http://schemas.openxmlformats.org/officeDocument/2006/relationships/slide" Target="/ppt/slides/slide13.xml" Id="R3cb88bc0107b47bd" /><Relationship Type="http://schemas.openxmlformats.org/officeDocument/2006/relationships/slide" Target="/ppt/slides/slide14.xml" Id="Rd4bec9f12d6e4ab5" /><Relationship Type="http://schemas.openxmlformats.org/officeDocument/2006/relationships/slide" Target="/ppt/slides/slide15.xml" Id="R79b13ddf11b64f44" /><Relationship Type="http://schemas.openxmlformats.org/officeDocument/2006/relationships/slide" Target="/ppt/slides/slide16.xml" Id="R7739e6f4f8814cac" /><Relationship Type="http://schemas.openxmlformats.org/officeDocument/2006/relationships/slide" Target="/ppt/slides/slide17.xml" Id="Raa90363d0bab4031" /><Relationship Type="http://schemas.openxmlformats.org/officeDocument/2006/relationships/slide" Target="/ppt/slides/slide18.xml" Id="R98fe331c7f834ee0" /><Relationship Type="http://schemas.openxmlformats.org/officeDocument/2006/relationships/slide" Target="/ppt/slides/slide19.xml" Id="R6e081f7e50cd4ebb" /><Relationship Type="http://schemas.openxmlformats.org/officeDocument/2006/relationships/slide" Target="/ppt/slides/slide20.xml" Id="Reaecd4e5e6724b94" /><Relationship Type="http://schemas.openxmlformats.org/officeDocument/2006/relationships/slide" Target="/ppt/slides/slide21.xml" Id="R9fcfecb5fba645ab" /><Relationship Type="http://schemas.openxmlformats.org/officeDocument/2006/relationships/slide" Target="/ppt/slides/slide22.xml" Id="R6c5701ff5b9d4a97" /><Relationship Type="http://schemas.openxmlformats.org/officeDocument/2006/relationships/slide" Target="/ppt/slides/slide23.xml" Id="Rbc93ada3a52a4426" /><Relationship Type="http://schemas.openxmlformats.org/officeDocument/2006/relationships/slide" Target="/ppt/slides/slide24.xml" Id="Ra0d35d3c94064bb2" /><Relationship Type="http://schemas.openxmlformats.org/officeDocument/2006/relationships/slide" Target="/ppt/slides/slide25.xml" Id="R6fbc1ee49adf4172" /><Relationship Type="http://schemas.openxmlformats.org/officeDocument/2006/relationships/slide" Target="/ppt/slides/slide26.xml" Id="R314af824ad384a0f" /><Relationship Type="http://schemas.openxmlformats.org/officeDocument/2006/relationships/slide" Target="/ppt/slides/slide27.xml" Id="R5fabb36df00149a4" /><Relationship Type="http://schemas.openxmlformats.org/officeDocument/2006/relationships/slide" Target="/ppt/slides/slide28.xml" Id="R66ddcdc0d1f84550" /><Relationship Type="http://schemas.openxmlformats.org/officeDocument/2006/relationships/slide" Target="/ppt/slides/slide29.xml" Id="Raf807b75a41e4377" /><Relationship Type="http://schemas.openxmlformats.org/officeDocument/2006/relationships/slide" Target="/ppt/slides/slide30.xml" Id="R0d7f06850b044381" /><Relationship Type="http://schemas.openxmlformats.org/officeDocument/2006/relationships/slide" Target="/ppt/slides/slide31.xml" Id="R3ad13cd15e244656" /><Relationship Type="http://schemas.openxmlformats.org/officeDocument/2006/relationships/slide" Target="/ppt/slides/slide32.xml" Id="Rb419f32ce31943c3" /><Relationship Type="http://schemas.openxmlformats.org/officeDocument/2006/relationships/slide" Target="/ppt/slides/slide33.xml" Id="R3a3f93183f224537" /><Relationship Type="http://schemas.openxmlformats.org/officeDocument/2006/relationships/slide" Target="/ppt/slides/slide34.xml" Id="Racfd4e5ed6964624" /><Relationship Type="http://schemas.openxmlformats.org/officeDocument/2006/relationships/slide" Target="/ppt/slides/slide35.xml" Id="R3bafcea67ebb4ed9" /><Relationship Type="http://schemas.openxmlformats.org/officeDocument/2006/relationships/slide" Target="/ppt/slides/slide36.xml" Id="R3197934f5fbe4ab4" /><Relationship Type="http://schemas.openxmlformats.org/officeDocument/2006/relationships/slide" Target="/ppt/slides/slide37.xml" Id="R7983518f00df48c8" /><Relationship Type="http://schemas.openxmlformats.org/officeDocument/2006/relationships/slide" Target="/ppt/slides/slide38.xml" Id="Rd4d1b916f8f447c6" /><Relationship Type="http://schemas.openxmlformats.org/officeDocument/2006/relationships/slide" Target="/ppt/slides/slide39.xml" Id="R28d46fd339824b56" /><Relationship Type="http://schemas.openxmlformats.org/officeDocument/2006/relationships/slide" Target="/ppt/slides/slide40.xml" Id="R77e6efa070324e26" /><Relationship Type="http://schemas.openxmlformats.org/officeDocument/2006/relationships/slide" Target="/ppt/slides/slide41.xml" Id="R3de8bd63dfd8428d" /><Relationship Type="http://schemas.openxmlformats.org/officeDocument/2006/relationships/slide" Target="/ppt/slides/slide42.xml" Id="Re7f61c6e5e3942c9" /><Relationship Type="http://schemas.openxmlformats.org/officeDocument/2006/relationships/slide" Target="/ppt/slides/slide43.xml" Id="R9f21c67c1b014df0" /><Relationship Type="http://schemas.openxmlformats.org/officeDocument/2006/relationships/slide" Target="/ppt/slides/slide44.xml" Id="Rc6f4cb2502de43ac" /><Relationship Type="http://schemas.openxmlformats.org/officeDocument/2006/relationships/slide" Target="/ppt/slides/slide45.xml" Id="Rf9ffabceb5834f97" /><Relationship Type="http://schemas.openxmlformats.org/officeDocument/2006/relationships/slide" Target="/ppt/slides/slide46.xml" Id="R25a78e0b84cf4dd2" /><Relationship Type="http://schemas.openxmlformats.org/officeDocument/2006/relationships/slide" Target="/ppt/slides/slide47.xml" Id="R5b29996281e74c88" /><Relationship Type="http://schemas.openxmlformats.org/officeDocument/2006/relationships/slide" Target="/ppt/slides/slide48.xml" Id="R05831f4306ee40c5" /><Relationship Type="http://schemas.openxmlformats.org/officeDocument/2006/relationships/slide" Target="/ppt/slides/slide49.xml" Id="R688254ee61e846a9" /><Relationship Type="http://schemas.openxmlformats.org/officeDocument/2006/relationships/slide" Target="/ppt/slides/slide50.xml" Id="R87edcefa67264f6d" /><Relationship Type="http://schemas.openxmlformats.org/officeDocument/2006/relationships/slide" Target="/ppt/slides/slide51.xml" Id="Rfdb8296336dd49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8fd6f61aa141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29a4faf2914f78" /><Relationship Type="http://schemas.openxmlformats.org/officeDocument/2006/relationships/notesMaster" Target="/ppt/notesMasters/notesMaster1.xml" Id="Rc966d5ece90640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81fb98e2454685" /><Relationship Type="http://schemas.openxmlformats.org/officeDocument/2006/relationships/notesMaster" Target="/ppt/notesMasters/notesMaster1.xml" Id="R0b898fe89af74e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a0f42333ff4e62" /><Relationship Type="http://schemas.openxmlformats.org/officeDocument/2006/relationships/notesMaster" Target="/ppt/notesMasters/notesMaster1.xml" Id="Ra5f7b93551614b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98b5e6476949a4" /><Relationship Type="http://schemas.openxmlformats.org/officeDocument/2006/relationships/notesMaster" Target="/ppt/notesMasters/notesMaster1.xml" Id="R4fe02441715d4d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6e1a5dcf804600" /><Relationship Type="http://schemas.openxmlformats.org/officeDocument/2006/relationships/notesMaster" Target="/ppt/notesMasters/notesMaster1.xml" Id="Rea845deb20f043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be68b5a2b248b9" /><Relationship Type="http://schemas.openxmlformats.org/officeDocument/2006/relationships/notesMaster" Target="/ppt/notesMasters/notesMaster1.xml" Id="R5e3d7c21f17045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17daab47a34303" /><Relationship Type="http://schemas.openxmlformats.org/officeDocument/2006/relationships/notesMaster" Target="/ppt/notesMasters/notesMaster1.xml" Id="R0a829a69527f49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3702b84e31448a" /><Relationship Type="http://schemas.openxmlformats.org/officeDocument/2006/relationships/notesMaster" Target="/ppt/notesMasters/notesMaster1.xml" Id="Re04d591e8b774f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e2aac907d94665" /><Relationship Type="http://schemas.openxmlformats.org/officeDocument/2006/relationships/notesMaster" Target="/ppt/notesMasters/notesMaster1.xml" Id="Ref86372a11894c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8e0631a7274289" /><Relationship Type="http://schemas.openxmlformats.org/officeDocument/2006/relationships/notesMaster" Target="/ppt/notesMasters/notesMaster1.xml" Id="R25d64d02d2fb4b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4d3a96b70d4139" /><Relationship Type="http://schemas.openxmlformats.org/officeDocument/2006/relationships/notesMaster" Target="/ppt/notesMasters/notesMaster1.xml" Id="R3154ca7f3fb445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e25315269a433e" /><Relationship Type="http://schemas.openxmlformats.org/officeDocument/2006/relationships/notesMaster" Target="/ppt/notesMasters/notesMaster1.xml" Id="R5b73b69eff2044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72da6454da4b68" /><Relationship Type="http://schemas.openxmlformats.org/officeDocument/2006/relationships/notesMaster" Target="/ppt/notesMasters/notesMaster1.xml" Id="R4f1f9a1f0d8444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7df00847ab4eb1" /><Relationship Type="http://schemas.openxmlformats.org/officeDocument/2006/relationships/notesMaster" Target="/ppt/notesMasters/notesMaster1.xml" Id="R0ac5e1e273d24e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0e725519e64d97" /><Relationship Type="http://schemas.openxmlformats.org/officeDocument/2006/relationships/notesMaster" Target="/ppt/notesMasters/notesMaster1.xml" Id="Rc653563f4a7a4e5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063d36907e54a77" /><Relationship Type="http://schemas.openxmlformats.org/officeDocument/2006/relationships/notesMaster" Target="/ppt/notesMasters/notesMaster1.xml" Id="R6ea21e309b89430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4b2ea9f968a41dd" /><Relationship Type="http://schemas.openxmlformats.org/officeDocument/2006/relationships/notesMaster" Target="/ppt/notesMasters/notesMaster1.xml" Id="Rfbeb50068df6473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4df8c87d8684a33" /><Relationship Type="http://schemas.openxmlformats.org/officeDocument/2006/relationships/notesMaster" Target="/ppt/notesMasters/notesMaster1.xml" Id="R062dc435c9944b0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5c1265e9cfd46cb" /><Relationship Type="http://schemas.openxmlformats.org/officeDocument/2006/relationships/notesMaster" Target="/ppt/notesMasters/notesMaster1.xml" Id="R78777c220399457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472830d975f47ce" /><Relationship Type="http://schemas.openxmlformats.org/officeDocument/2006/relationships/notesMaster" Target="/ppt/notesMasters/notesMaster1.xml" Id="R5c09549aa56549d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6820df6d14b4ebb" /><Relationship Type="http://schemas.openxmlformats.org/officeDocument/2006/relationships/notesMaster" Target="/ppt/notesMasters/notesMaster1.xml" Id="R40a2d7aade194c0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f36d3a18df74b48" /><Relationship Type="http://schemas.openxmlformats.org/officeDocument/2006/relationships/notesMaster" Target="/ppt/notesMasters/notesMaster1.xml" Id="Rb66030c04cd0470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48c7584a5774457" /><Relationship Type="http://schemas.openxmlformats.org/officeDocument/2006/relationships/notesMaster" Target="/ppt/notesMasters/notesMaster1.xml" Id="R4c6e0f90628d47e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9e795b4627c4763" /><Relationship Type="http://schemas.openxmlformats.org/officeDocument/2006/relationships/notesMaster" Target="/ppt/notesMasters/notesMaster1.xml" Id="Rf7187e1212764de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b111e8a27d7461d" /><Relationship Type="http://schemas.openxmlformats.org/officeDocument/2006/relationships/notesMaster" Target="/ppt/notesMasters/notesMaster1.xml" Id="R255b52eab1974be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b81e4360417409e" /><Relationship Type="http://schemas.openxmlformats.org/officeDocument/2006/relationships/notesMaster" Target="/ppt/notesMasters/notesMaster1.xml" Id="R191016c4cfae4a3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dd12686eb5e435a" /><Relationship Type="http://schemas.openxmlformats.org/officeDocument/2006/relationships/notesMaster" Target="/ppt/notesMasters/notesMaster1.xml" Id="Rc71ad32505f849e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327efe266db4a8f" /><Relationship Type="http://schemas.openxmlformats.org/officeDocument/2006/relationships/notesMaster" Target="/ppt/notesMasters/notesMaster1.xml" Id="Rd3e93e155767465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83ae50083ff4026" /><Relationship Type="http://schemas.openxmlformats.org/officeDocument/2006/relationships/notesMaster" Target="/ppt/notesMasters/notesMaster1.xml" Id="R760a60a0e1e7436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32ed731f5d5413b" /><Relationship Type="http://schemas.openxmlformats.org/officeDocument/2006/relationships/notesMaster" Target="/ppt/notesMasters/notesMaster1.xml" Id="Rf34a2bb13ecc481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2ac151a936147f5" /><Relationship Type="http://schemas.openxmlformats.org/officeDocument/2006/relationships/notesMaster" Target="/ppt/notesMasters/notesMaster1.xml" Id="R9d26bdfdf4eb450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b053ca0801846cb" /><Relationship Type="http://schemas.openxmlformats.org/officeDocument/2006/relationships/notesMaster" Target="/ppt/notesMasters/notesMaster1.xml" Id="R46b269e00e7b4b4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8b3656ebcbc491c" /><Relationship Type="http://schemas.openxmlformats.org/officeDocument/2006/relationships/notesMaster" Target="/ppt/notesMasters/notesMaster1.xml" Id="R430579065323423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252fe6f41d84e9d" /><Relationship Type="http://schemas.openxmlformats.org/officeDocument/2006/relationships/notesMaster" Target="/ppt/notesMasters/notesMaster1.xml" Id="R046ed7ef303245c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f9ac85a44134602" /><Relationship Type="http://schemas.openxmlformats.org/officeDocument/2006/relationships/notesMaster" Target="/ppt/notesMasters/notesMaster1.xml" Id="R61fffe81d962416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100f342e4e44d31" /><Relationship Type="http://schemas.openxmlformats.org/officeDocument/2006/relationships/notesMaster" Target="/ppt/notesMasters/notesMaster1.xml" Id="R519e556073b547a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b8a011a7bbc4948" /><Relationship Type="http://schemas.openxmlformats.org/officeDocument/2006/relationships/notesMaster" Target="/ppt/notesMasters/notesMaster1.xml" Id="R7edf801cce094b2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272e06eb934490f" /><Relationship Type="http://schemas.openxmlformats.org/officeDocument/2006/relationships/notesMaster" Target="/ppt/notesMasters/notesMaster1.xml" Id="R5835c240e2bf415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95c1f28a67947f1" /><Relationship Type="http://schemas.openxmlformats.org/officeDocument/2006/relationships/notesMaster" Target="/ppt/notesMasters/notesMaster1.xml" Id="Rd15c7e918c4d444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870e93980564274" /><Relationship Type="http://schemas.openxmlformats.org/officeDocument/2006/relationships/notesMaster" Target="/ppt/notesMasters/notesMaster1.xml" Id="Ra19bfc507aae4c0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5cf36d9b3494e08" /><Relationship Type="http://schemas.openxmlformats.org/officeDocument/2006/relationships/notesMaster" Target="/ppt/notesMasters/notesMaster1.xml" Id="R2643ff761af943e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2e1d06969e445c9" /><Relationship Type="http://schemas.openxmlformats.org/officeDocument/2006/relationships/notesMaster" Target="/ppt/notesMasters/notesMaster1.xml" Id="Rfd0cf91be225439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f9d0fec37324875" /><Relationship Type="http://schemas.openxmlformats.org/officeDocument/2006/relationships/notesMaster" Target="/ppt/notesMasters/notesMaster1.xml" Id="Rafcc91a24ed1426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8c052fedc1c43b8" /><Relationship Type="http://schemas.openxmlformats.org/officeDocument/2006/relationships/notesMaster" Target="/ppt/notesMasters/notesMaster1.xml" Id="R96c18cec086e44a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d575f80f66f463e" /><Relationship Type="http://schemas.openxmlformats.org/officeDocument/2006/relationships/notesMaster" Target="/ppt/notesMasters/notesMaster1.xml" Id="R61d0a45275ea4b8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7fcbe9dc701493f" /><Relationship Type="http://schemas.openxmlformats.org/officeDocument/2006/relationships/notesMaster" Target="/ppt/notesMasters/notesMaster1.xml" Id="R8b8c977f10444c3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d6bea805be048e1" /><Relationship Type="http://schemas.openxmlformats.org/officeDocument/2006/relationships/notesMaster" Target="/ppt/notesMasters/notesMaster1.xml" Id="R7990199941d44cf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4c23593dfbb43e3" /><Relationship Type="http://schemas.openxmlformats.org/officeDocument/2006/relationships/notesMaster" Target="/ppt/notesMasters/notesMaster1.xml" Id="R0b23d5a32ed24c75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80b3aadcf1d429d" /><Relationship Type="http://schemas.openxmlformats.org/officeDocument/2006/relationships/notesMaster" Target="/ppt/notesMasters/notesMaster1.xml" Id="R38bb2fa02fca4ec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67af0018dd04a4b" /><Relationship Type="http://schemas.openxmlformats.org/officeDocument/2006/relationships/notesMaster" Target="/ppt/notesMasters/notesMaster1.xml" Id="Rfdb365598fff427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809d801714a4696" /><Relationship Type="http://schemas.openxmlformats.org/officeDocument/2006/relationships/notesMaster" Target="/ppt/notesMasters/notesMaster1.xml" Id="Rc0be3f9581e642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all completed project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  <a:endParaRPr/>
          </a:p>
          <a:p xmlns:a="http://schemas.openxmlformats.org/drawingml/2006/main">
            <a:r>
              <a:t>Source files: all completed project notebooks.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all completed project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all completed project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all completed project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  <a:endParaRPr/>
          </a:p>
          <a:p xmlns:a="http://schemas.openxmlformats.org/drawingml/2006/main">
            <a:pPr marL="0" indent="0">
              <a:buNone/>
            </a:pPr>
            <a:r>
              <a:t>Source files: all completed project notebooks.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all completed project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all completed project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all completed project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all completed project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all completed project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all completed project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all completed project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all completed project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all completed project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  <a:endParaRPr/>
          </a:p>
          <a:p xmlns:a="http://schemas.openxmlformats.org/drawingml/2006/main">
            <a:pPr marL="0" indent="0">
              <a:buNone/>
            </a:pPr>
            <a:r>
              <a:t>Source files: all completed project notebooks.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all completed project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jupyter-labs-eda-dataviz-v2.ipynb.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jupyter-labs-eda-dataviz-v2.ipynb.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jupyter-labs-eda-dataviz-v2.ipynb.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jupyter-labs-eda-dataviz-v2.ipynb.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jupyter-labs-eda-dataviz-v2.ipynb.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jupyter-labs-eda-dataviz-v2.ipynb.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jupyter-labs-eda-sql-coursera_sqllite.ipynb.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jupyter-labs-eda-sql-coursera_sqllite.ipynb.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jupyter-labs-eda-sql-coursera_sqllite.ipynb.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jupyter-labs-eda-sql-coursera_sqllite.ipynb.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jupyter-labs-eda-sql-coursera_sqllite.ipynb.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jupyter-labs-eda-sql-coursera_sqllite.ipynb.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jupyter-labs-eda-sql-coursera_sqllite.ipynb.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jupyter-labs-eda-sql-coursera_sqllite.ipynb.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jupyter-labs-eda-sql-coursera_sqllite.ipynb.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jupyter-labs-eda-sql-coursera_sqllite.ipynb.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all completed project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lab-jupyter-launch-site-location-v2.ipynb.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lab-jupyter-launch-site-location-v2.ipynb.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lab-jupyter-launch-site-location-v2.ipynb.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all completed project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spacex_delivery/spacex_dash_app.py.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spacex_delivery/spacex_dash_app.py.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spacex_delivery/spacex_dash_app.py.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all completed project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SpaceX-Machine-Learning-Prediction-Part-5-v1.ipynb.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SpaceX-Machine-Learning-Prediction-Part-5-v1.ipynb.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all completed project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  <a:endParaRPr/>
          </a:p>
          <a:p xmlns:a="http://schemas.openxmlformats.org/drawingml/2006/main">
            <a:r>
              <a:t>Source files: all completed project notebooks.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</a:p>
          <a:p xmlns:a="http://schemas.openxmlformats.org/drawingml/2006/main">
            <a:r>
              <a:t>Source files: all completed project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  <a:endParaRPr/>
          </a:p>
          <a:p xmlns:a="http://schemas.openxmlformats.org/drawingml/2006/main">
            <a:r>
              <a:t>Source files: all completed project notebooks.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  <a:endParaRPr/>
          </a:p>
          <a:p xmlns:a="http://schemas.openxmlformats.org/drawingml/2006/main">
            <a:r>
              <a:t>Source files: all completed project notebooks.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completed local IBM SpaceX capstone notebooks and IBM Skills Network historical datasets. Calculations reproduced for this report. Historical teaching snapshots, not current operational statistics.</a:t>
            </a:r>
            <a:endParaRPr/>
          </a:p>
          <a:p xmlns:a="http://schemas.openxmlformats.org/drawingml/2006/main">
            <a:r>
              <a:t>Source files: all completed project notebooks.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link intentionally pending at author request. All completed files included in the accompanying source bundle.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4bc9cce4a40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e816d8723a47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30c1379d74b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4183528ee49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a46f782c2640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a15493f8cf430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42dbad822147f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bd942e9a694d1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ca8bff46344e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9431e3a454be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01951d05f43e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37a96441ae497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f9c6ba97e54b0b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0">
  <p:cSld name="1_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4C40F0C3-04B8-493C-B490-7FE5E99D823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8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72EDEE1-83DA-4F50-BC4A-1D249EDFDC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cf097e747a4101" /><Relationship Type="http://schemas.openxmlformats.org/officeDocument/2006/relationships/slideLayout" Target="/ppt/slideLayouts/slideLayout1.xml" Id="Rc48c1b809b2d4387" /><Relationship Type="http://schemas.openxmlformats.org/officeDocument/2006/relationships/slideLayout" Target="/ppt/slideLayouts/slideLayout2.xml" Id="Rd8155629457742f0" /><Relationship Type="http://schemas.openxmlformats.org/officeDocument/2006/relationships/slideLayout" Target="/ppt/slideLayouts/slideLayout3.xml" Id="R645166aa4e024abd" /><Relationship Type="http://schemas.openxmlformats.org/officeDocument/2006/relationships/slideLayout" Target="/ppt/slideLayouts/slideLayout4.xml" Id="R16392cda464444f1" /><Relationship Type="http://schemas.openxmlformats.org/officeDocument/2006/relationships/slideLayout" Target="/ppt/slideLayouts/slideLayout5.xml" Id="Rc68ecaf82db14d80" /><Relationship Type="http://schemas.openxmlformats.org/officeDocument/2006/relationships/slideLayout" Target="/ppt/slideLayouts/slideLayout6.xml" Id="R40a9a49d87244000" /><Relationship Type="http://schemas.openxmlformats.org/officeDocument/2006/relationships/slideLayout" Target="/ppt/slideLayouts/slideLayout7.xml" Id="R465ecd9ae6aa4b60" /><Relationship Type="http://schemas.openxmlformats.org/officeDocument/2006/relationships/slideLayout" Target="/ppt/slideLayouts/slideLayout8.xml" Id="R6feb6a977ad74318" /><Relationship Type="http://schemas.openxmlformats.org/officeDocument/2006/relationships/slideLayout" Target="/ppt/slideLayouts/slideLayout9.xml" Id="Rc2612cb8dfd54911" /><Relationship Type="http://schemas.openxmlformats.org/officeDocument/2006/relationships/slideLayout" Target="/ppt/slideLayouts/slideLayout10.xml" Id="R8db01b524dcf4231" /><Relationship Type="http://schemas.openxmlformats.org/officeDocument/2006/relationships/slideLayout" Target="/ppt/slideLayouts/slideLayout11.xml" Id="R94c6ee1ed6334798" /><Relationship Type="http://schemas.openxmlformats.org/officeDocument/2006/relationships/slideLayout" Target="/ppt/slideLayouts/slideLayout12.xml" Id="R6054310c60f042e4" /><Relationship Type="http://schemas.openxmlformats.org/officeDocument/2006/relationships/slideLayout" Target="/ppt/slideLayouts/slideLayout13.xml" Id="Rc5ac66af8ab34a3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14772" y="6025573"/>
            <a:ext cx="2743200" cy="4016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600">
                <a:solidFill>
                  <a:srgbClr val="1C7DDB"/>
                </a:solidFill>
                <a:latin typeface="Abadi"/>
                <a:ea typeface="Abadi"/>
                <a:cs typeface="Abadi"/>
              </a:defRPr>
            </a:lvl1pPr>
          </a:lstStyle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8c1b809b2d4387"/>
    <p:sldLayoutId xmlns:r="http://schemas.openxmlformats.org/officeDocument/2006/relationships" id="2147483650" r:id="Rd8155629457742f0"/>
    <p:sldLayoutId xmlns:r="http://schemas.openxmlformats.org/officeDocument/2006/relationships" id="2147483651" r:id="R645166aa4e024abd"/>
    <p:sldLayoutId xmlns:r="http://schemas.openxmlformats.org/officeDocument/2006/relationships" id="2147483652" r:id="R16392cda464444f1"/>
    <p:sldLayoutId xmlns:r="http://schemas.openxmlformats.org/officeDocument/2006/relationships" id="2147483653" r:id="Rc68ecaf82db14d80"/>
    <p:sldLayoutId xmlns:r="http://schemas.openxmlformats.org/officeDocument/2006/relationships" id="2147483654" r:id="R40a9a49d87244000"/>
    <p:sldLayoutId xmlns:r="http://schemas.openxmlformats.org/officeDocument/2006/relationships" id="2147483655" r:id="R465ecd9ae6aa4b60"/>
    <p:sldLayoutId xmlns:r="http://schemas.openxmlformats.org/officeDocument/2006/relationships" id="2147483656" r:id="R6feb6a977ad74318"/>
    <p:sldLayoutId xmlns:r="http://schemas.openxmlformats.org/officeDocument/2006/relationships" id="2147483657" r:id="Rc2612cb8dfd54911"/>
    <p:sldLayoutId xmlns:r="http://schemas.openxmlformats.org/officeDocument/2006/relationships" id="2147483658" r:id="R8db01b524dcf4231"/>
    <p:sldLayoutId xmlns:r="http://schemas.openxmlformats.org/officeDocument/2006/relationships" id="2147483659" r:id="R94c6ee1ed6334798"/>
    <p:sldLayoutId xmlns:r="http://schemas.openxmlformats.org/officeDocument/2006/relationships" id="2147483660" r:id="R6054310c60f042e4"/>
    <p:sldLayoutId xmlns:r="http://schemas.openxmlformats.org/officeDocument/2006/relationships" id="2147483661" r:id="Rc5ac66af8ab34a3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86aaa0bad6f457b" /><Relationship Type="http://schemas.openxmlformats.org/officeDocument/2006/relationships/notesSlide" Target="/ppt/notesSlides/notesSlide1.xml" Id="R523f06cbe18a4b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cd1454d8342c2" /><Relationship Type="http://schemas.openxmlformats.org/officeDocument/2006/relationships/notesSlide" Target="/ppt/notesSlides/notesSlide2.xml" Id="R7c6565dfef7643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cb88a98444a50" /><Relationship Type="http://schemas.openxmlformats.org/officeDocument/2006/relationships/notesSlide" Target="/ppt/notesSlides/notesSlide3.xml" Id="R7aab3d25ae7849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1b6f2b5d44db3" /><Relationship Type="http://schemas.openxmlformats.org/officeDocument/2006/relationships/notesSlide" Target="/ppt/notesSlides/notesSlide4.xml" Id="R6cfe8cd67e8346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c7048a4f3194ec8" /><Relationship Type="http://schemas.openxmlformats.org/officeDocument/2006/relationships/notesSlide" Target="/ppt/notesSlides/notesSlide5.xml" Id="Re7e11acdd63349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3754a16f74024" /><Relationship Type="http://schemas.openxmlformats.org/officeDocument/2006/relationships/notesSlide" Target="/ppt/notesSlides/notesSlide6.xml" Id="R4d1e93d1495444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4628e65294829" /><Relationship Type="http://schemas.openxmlformats.org/officeDocument/2006/relationships/notesSlide" Target="/ppt/notesSlides/notesSlide7.xml" Id="Rb73ad117a2754e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05f71e40943a3" /><Relationship Type="http://schemas.openxmlformats.org/officeDocument/2006/relationships/notesSlide" Target="/ppt/notesSlides/notesSlide8.xml" Id="R243477b358dc49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7f1c568784961" /><Relationship Type="http://schemas.openxmlformats.org/officeDocument/2006/relationships/notesSlide" Target="/ppt/notesSlides/notesSlide9.xml" Id="Rd2e739b6e1bf46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8fbc8044a4176" /><Relationship Type="http://schemas.openxmlformats.org/officeDocument/2006/relationships/notesSlide" Target="/ppt/notesSlides/notesSlide10.xml" Id="R709f9dead53e4e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70436da8c4674" /><Relationship Type="http://schemas.openxmlformats.org/officeDocument/2006/relationships/notesSlide" Target="/ppt/notesSlides/notesSlide11.xml" Id="R6c3507837d334c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cfa585ed64fea" /><Relationship Type="http://schemas.openxmlformats.org/officeDocument/2006/relationships/notesSlide" Target="/ppt/notesSlides/notesSlide12.xml" Id="R74d5e8c49b3842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fa3efdc384d66" /><Relationship Type="http://schemas.openxmlformats.org/officeDocument/2006/relationships/notesSlide" Target="/ppt/notesSlides/notesSlide13.xml" Id="R2ac5d45ff2924c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0d86cc6584092" /><Relationship Type="http://schemas.openxmlformats.org/officeDocument/2006/relationships/notesSlide" Target="/ppt/notesSlides/notesSlide14.xml" Id="R1160af3c6f5d4d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cd14e80a64ad3" /><Relationship Type="http://schemas.openxmlformats.org/officeDocument/2006/relationships/notesSlide" Target="/ppt/notesSlides/notesSlide15.xml" Id="Rac5bf48856f5408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68940e5c944c0" /><Relationship Type="http://schemas.openxmlformats.org/officeDocument/2006/relationships/notesSlide" Target="/ppt/notesSlides/notesSlide16.xml" Id="Red72ab7385b1406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3bdcb777a4afc" /><Relationship Type="http://schemas.openxmlformats.org/officeDocument/2006/relationships/notesSlide" Target="/ppt/notesSlides/notesSlide17.xml" Id="Rff7983dbff9b43c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760bdd4204b84" /><Relationship Type="http://schemas.openxmlformats.org/officeDocument/2006/relationships/notesSlide" Target="/ppt/notesSlides/notesSlide18.xml" Id="R4d5d76201c44443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98412a18742f2" /><Relationship Type="http://schemas.openxmlformats.org/officeDocument/2006/relationships/notesSlide" Target="/ppt/notesSlides/notesSlide19.xml" Id="R29d74608ee10460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6ad4aef2b4ccb" /><Relationship Type="http://schemas.openxmlformats.org/officeDocument/2006/relationships/chart" Target="/ppt/slides/charts/chart1.xml" Id="Rfeb98cf90f9a4bba" /><Relationship Type="http://schemas.openxmlformats.org/officeDocument/2006/relationships/notesSlide" Target="/ppt/notesSlides/notesSlide20.xml" Id="R7e4ff1b53f194c0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3c3dc736d4824" /><Relationship Type="http://schemas.openxmlformats.org/officeDocument/2006/relationships/notesSlide" Target="/ppt/notesSlides/notesSlide21.xml" Id="R349649236acd4da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64734486642a1" /><Relationship Type="http://schemas.openxmlformats.org/officeDocument/2006/relationships/notesSlide" Target="/ppt/notesSlides/notesSlide22.xml" Id="R1050027a60134dd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a2f71ff984fca" /><Relationship Type="http://schemas.openxmlformats.org/officeDocument/2006/relationships/chart" Target="/ppt/slides/charts/chart2.xml" Id="R8baf6465909b4dff" /><Relationship Type="http://schemas.openxmlformats.org/officeDocument/2006/relationships/notesSlide" Target="/ppt/notesSlides/notesSlide23.xml" Id="R4827eb5a99af490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189b454f8454d" /><Relationship Type="http://schemas.openxmlformats.org/officeDocument/2006/relationships/notesSlide" Target="/ppt/notesSlides/notesSlide24.xml" Id="R3ed359170eeb46d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f886ce7a148fb" /><Relationship Type="http://schemas.openxmlformats.org/officeDocument/2006/relationships/notesSlide" Target="/ppt/notesSlides/notesSlide25.xml" Id="Ra6995d8da65b479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d8457f9a34490" /><Relationship Type="http://schemas.openxmlformats.org/officeDocument/2006/relationships/notesSlide" Target="/ppt/notesSlides/notesSlide26.xml" Id="R368c4697f70949b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48b64a7e344b6" /><Relationship Type="http://schemas.openxmlformats.org/officeDocument/2006/relationships/notesSlide" Target="/ppt/notesSlides/notesSlide27.xml" Id="R29a6c673cf6e4e7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e2ff93ef8453b" /><Relationship Type="http://schemas.openxmlformats.org/officeDocument/2006/relationships/notesSlide" Target="/ppt/notesSlides/notesSlide28.xml" Id="R70c24af530c043e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4fcd4ea7c488b" /><Relationship Type="http://schemas.openxmlformats.org/officeDocument/2006/relationships/notesSlide" Target="/ppt/notesSlides/notesSlide29.xml" Id="R1911093bdc114d5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d843265f74778" /><Relationship Type="http://schemas.openxmlformats.org/officeDocument/2006/relationships/notesSlide" Target="/ppt/notesSlides/notesSlide30.xml" Id="R2cdf7598255b40c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d96f3f3dc4eb9" /><Relationship Type="http://schemas.openxmlformats.org/officeDocument/2006/relationships/notesSlide" Target="/ppt/notesSlides/notesSlide31.xml" Id="R71c0282e71cf45c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aaced18a54226" /><Relationship Type="http://schemas.openxmlformats.org/officeDocument/2006/relationships/notesSlide" Target="/ppt/notesSlides/notesSlide32.xml" Id="Rdbe2dabab2ad458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0f30aa96b462f" /><Relationship Type="http://schemas.openxmlformats.org/officeDocument/2006/relationships/notesSlide" Target="/ppt/notesSlides/notesSlide33.xml" Id="R623aa9246806446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c9fbec9054499" /><Relationship Type="http://schemas.openxmlformats.org/officeDocument/2006/relationships/notesSlide" Target="/ppt/notesSlides/notesSlide34.xml" Id="Rff8e331434e2459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d3ffa06df4ea0" /><Relationship Type="http://schemas.openxmlformats.org/officeDocument/2006/relationships/notesSlide" Target="/ppt/notesSlides/notesSlide35.xml" Id="Rfab5677e41d8491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8f3d4287a4baa" /><Relationship Type="http://schemas.openxmlformats.org/officeDocument/2006/relationships/image" Target="/ppt/media/image.png" Id="R7d4361d3405445dc" /><Relationship Type="http://schemas.openxmlformats.org/officeDocument/2006/relationships/notesSlide" Target="/ppt/notesSlides/notesSlide36.xml" Id="R67ab139276834a0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11013349f4dbd" /><Relationship Type="http://schemas.openxmlformats.org/officeDocument/2006/relationships/notesSlide" Target="/ppt/notesSlides/notesSlide37.xml" Id="Rfe7a438b123b414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ee470f08b4028" /><Relationship Type="http://schemas.openxmlformats.org/officeDocument/2006/relationships/notesSlide" Target="/ppt/notesSlides/notesSlide38.xml" Id="Rff609a8fd41b464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f752d1dfc4423" /><Relationship Type="http://schemas.openxmlformats.org/officeDocument/2006/relationships/chart" Target="/ppt/slides/charts/chart3.xml" Id="R8cc1948a2fe84b40" /><Relationship Type="http://schemas.openxmlformats.org/officeDocument/2006/relationships/notesSlide" Target="/ppt/notesSlides/notesSlide39.xml" Id="R68b8345b193f468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03011743b412e" /><Relationship Type="http://schemas.openxmlformats.org/officeDocument/2006/relationships/chart" Target="/ppt/slides/charts/chart4.xml" Id="Rd09528545ac1439c" /><Relationship Type="http://schemas.openxmlformats.org/officeDocument/2006/relationships/notesSlide" Target="/ppt/notesSlides/notesSlide40.xml" Id="R37ef3e1fa408430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b06ea925547c6" /><Relationship Type="http://schemas.openxmlformats.org/officeDocument/2006/relationships/notesSlide" Target="/ppt/notesSlides/notesSlide41.xml" Id="R6685a05ff1d642b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d6edf8ad94481" /><Relationship Type="http://schemas.openxmlformats.org/officeDocument/2006/relationships/notesSlide" Target="/ppt/notesSlides/notesSlide42.xml" Id="R3c912d4b9f4d4b2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ef78c122d47ef" /><Relationship Type="http://schemas.openxmlformats.org/officeDocument/2006/relationships/chart" Target="/ppt/slides/charts/chart5.xml" Id="R34f9a171cc5d4a79" /><Relationship Type="http://schemas.openxmlformats.org/officeDocument/2006/relationships/notesSlide" Target="/ppt/notesSlides/notesSlide43.xml" Id="R98b15c77d801419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6acb00bc4422b" /><Relationship Type="http://schemas.openxmlformats.org/officeDocument/2006/relationships/notesSlide" Target="/ppt/notesSlides/notesSlide44.xml" Id="R8e3b775ccda648e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558019c7044f2" /><Relationship Type="http://schemas.openxmlformats.org/officeDocument/2006/relationships/notesSlide" Target="/ppt/notesSlides/notesSlide45.xml" Id="R3e2630150d5c45a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443722a03491a" /><Relationship Type="http://schemas.openxmlformats.org/officeDocument/2006/relationships/notesSlide" Target="/ppt/notesSlides/notesSlide46.xml" Id="Rbf3d4fd68a9d470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d369cd2e7b84e66" /><Relationship Type="http://schemas.openxmlformats.org/officeDocument/2006/relationships/notesSlide" Target="/ppt/notesSlides/notesSlide47.xml" Id="Rf1f203745d8b419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eef8abd6b4441" /><Relationship Type="http://schemas.openxmlformats.org/officeDocument/2006/relationships/notesSlide" Target="/ppt/notesSlides/notesSlide48.xml" Id="R6de798341286427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54e529f034e49" /><Relationship Type="http://schemas.openxmlformats.org/officeDocument/2006/relationships/notesSlide" Target="/ppt/notesSlides/notesSlide49.xml" Id="Rb7ccdd111ec0403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42e6d0e4b49a9" /><Relationship Type="http://schemas.openxmlformats.org/officeDocument/2006/relationships/notesSlide" Target="/ppt/notesSlides/notesSlide50.xml" Id="R68fe1cd2e4c84adb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a92569a704b29" /><Relationship Type="http://schemas.openxmlformats.org/officeDocument/2006/relationships/notesSlide" Target="/ppt/notesSlides/notesSlide51.xml" Id="Re73476f0fda9422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Landing rate</c:v>
          </c:tx>
          <c:spPr>
            <a:solidFill xmlns:a="http://schemas.openxmlformats.org/drawingml/2006/main">
              <a:srgbClr val="0753D6"/>
            </a:solidFill>
          </c:spPr>
          <c:invertIfNegative val="0"/>
          <c:cat>
            <c:strRef>
              <c:f>'Chart Data'!$A$2:$A$12</c:f>
              <c:strCache>
                <c:ptCount val="11"/>
                <c:pt idx="0">
                  <c:v>ES-L1 (1)</c:v>
                </c:pt>
                <c:pt idx="1">
                  <c:v>GEO (1)</c:v>
                </c:pt>
                <c:pt idx="2">
                  <c:v>GTO (27)</c:v>
                </c:pt>
                <c:pt idx="3">
                  <c:v>HEO (1)</c:v>
                </c:pt>
                <c:pt idx="4">
                  <c:v>ISS (21)</c:v>
                </c:pt>
                <c:pt idx="5">
                  <c:v>LEO (7)</c:v>
                </c:pt>
                <c:pt idx="6">
                  <c:v>MEO (3)</c:v>
                </c:pt>
                <c:pt idx="7">
                  <c:v>PO (9)</c:v>
                </c:pt>
                <c:pt idx="8">
                  <c:v>SO (1)</c:v>
                </c:pt>
                <c:pt idx="9">
                  <c:v>SSO (5)</c:v>
                </c:pt>
                <c:pt idx="10">
                  <c:v>VLEO (14)</c:v>
                </c:pt>
              </c:strCache>
            </c:strRef>
          </c:cat>
          <c:val>
            <c:numRef>
              <c:f>'Chart Data'!$B$2:$B$12</c:f>
              <c:numCache>
                <c:formatCode>0%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0.518518518519</c:v>
                </c:pt>
                <c:pt idx="3">
                  <c:v>1</c:v>
                </c:pt>
                <c:pt idx="4">
                  <c:v>0.619047619048</c:v>
                </c:pt>
                <c:pt idx="5">
                  <c:v>0.714285714286</c:v>
                </c:pt>
                <c:pt idx="6">
                  <c:v>0.666666666667</c:v>
                </c:pt>
                <c:pt idx="7">
                  <c:v>0.666666666667</c:v>
                </c:pt>
                <c:pt idx="8">
                  <c:v>0</c:v>
                </c:pt>
                <c:pt idx="9">
                  <c:v>1</c:v>
                </c:pt>
                <c:pt idx="10">
                  <c:v>0.857142857143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badi"/>
                  <a:ea typeface="Abadi"/>
                  <a:cs typeface="Abadi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badi"/>
                <a:ea typeface="Abadi"/>
                <a:cs typeface="Abad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C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badi"/>
                <a:ea typeface="Abadi"/>
                <a:cs typeface="Abad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1F3F8"/>
        </a:solidFill>
      </c:spPr>
    </c:plotArea>
    <c:plotVisOnly val="1"/>
  </c:chart>
  <c:spPr>
    <a:solidFill xmlns:a="http://schemas.openxmlformats.org/drawingml/2006/main">
      <a:srgbClr val="F1F3F8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Positive label rate</c:v>
          </c:tx>
          <c:spPr>
            <a:ln xmlns:a="http://schemas.openxmlformats.org/drawingml/2006/main" w="28575">
              <a:solidFill>
                <a:srgbClr val="0753D6"/>
              </a:solidFill>
              <a:prstDash val="solid"/>
            </a:ln>
          </c:spPr>
          <c:marker>
            <c:symbol val="none"/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2010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'Chart Data'!$B$2:$B$11</c:f>
              <c:numCache>
                <c:formatCode>0%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0.333333333333</c:v>
                </c:pt>
                <c:pt idx="4">
                  <c:v>0.333333333333</c:v>
                </c:pt>
                <c:pt idx="5">
                  <c:v>0.625</c:v>
                </c:pt>
                <c:pt idx="6">
                  <c:v>0.833333333333</c:v>
                </c:pt>
                <c:pt idx="7">
                  <c:v>0.611111111111</c:v>
                </c:pt>
                <c:pt idx="8">
                  <c:v>0.9</c:v>
                </c:pt>
                <c:pt idx="9">
                  <c:v>0.842105263158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badi"/>
                  <a:ea typeface="Abadi"/>
                  <a:cs typeface="Abad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badi"/>
                <a:ea typeface="Abadi"/>
                <a:cs typeface="Abad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C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badi"/>
                <a:ea typeface="Abadi"/>
                <a:cs typeface="Abad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1F3F8"/>
        </a:solidFill>
      </c:spPr>
    </c:plotArea>
    <c:plotVisOnly val="1"/>
  </c:chart>
  <c:spPr>
    <a:solidFill xmlns:a="http://schemas.openxmlformats.org/drawingml/2006/main">
      <a:srgbClr val="F1F3F8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pieChart>
        <c:ser>
          <c:idx val="0"/>
          <c:order val="0"/>
          <c:tx>
            <c:v>Successes</c:v>
          </c:tx>
          <c:cat>
            <c:strRef>
              <c:f>'Chart Data'!$A$2:$A$5</c:f>
              <c:strCache>
                <c:ptCount val="4"/>
                <c:pt idx="0">
                  <c:v>CCAFS LC-40</c:v>
                </c:pt>
                <c:pt idx="1">
                  <c:v>CCAFS SLC-40</c:v>
                </c:pt>
                <c:pt idx="2">
                  <c:v>KSC LC-39A</c:v>
                </c:pt>
                <c:pt idx="3">
                  <c:v>VAFB SLC-4E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7</c:v>
                </c:pt>
                <c:pt idx="1">
                  <c:v>3</c:v>
                </c:pt>
                <c:pt idx="2">
                  <c:v>10</c:v>
                </c:pt>
                <c:pt idx="3">
                  <c:v>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badi"/>
                  <a:ea typeface="Abadi"/>
                  <a:cs typeface="Abad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</c:pieChart>
      <c:spPr>
        <a:solidFill xmlns:a="http://schemas.openxmlformats.org/drawingml/2006/main">
          <a:srgbClr val="F1F3F8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Abadi"/>
              <a:ea typeface="Abadi"/>
              <a:cs typeface="Abadi"/>
            </a:defRPr>
          </a:pPr>
        </a:p>
      </c:txPr>
    </c:legend>
    <c:plotVisOnly val="1"/>
  </c:chart>
  <c:spPr>
    <a:solidFill xmlns:a="http://schemas.openxmlformats.org/drawingml/2006/main">
      <a:srgbClr val="F1F3F8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pieChart>
        <c:ser>
          <c:idx val="0"/>
          <c:order val="0"/>
          <c:tx>
            <c:v>Launches</c:v>
          </c:tx>
          <c:dPt>
            <c:idx val="0"/>
            <c:spPr>
              <a:solidFill xmlns:a="http://schemas.openxmlformats.org/drawingml/2006/main">
                <a:srgbClr val="DB594F"/>
              </a:solidFill>
            </c:spPr>
          </c:dPt>
          <c:dPt>
            <c:idx val="1"/>
            <c:spPr>
              <a:solidFill xmlns:a="http://schemas.openxmlformats.org/drawingml/2006/main">
                <a:srgbClr val="238B4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Failure</c:v>
                </c:pt>
                <c:pt idx="1">
                  <c:v>Success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</c:v>
                </c:pt>
                <c:pt idx="1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badi"/>
                  <a:ea typeface="Abadi"/>
                  <a:cs typeface="Abad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</c:pieChart>
      <c:spPr>
        <a:solidFill xmlns:a="http://schemas.openxmlformats.org/drawingml/2006/main">
          <a:srgbClr val="F1F3F8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Abadi"/>
              <a:ea typeface="Abadi"/>
              <a:cs typeface="Abadi"/>
            </a:defRPr>
          </a:pPr>
        </a:p>
      </c:txPr>
    </c:legend>
    <c:plotVisOnly val="1"/>
  </c:chart>
  <c:spPr>
    <a:solidFill xmlns:a="http://schemas.openxmlformats.org/drawingml/2006/main">
      <a:srgbClr val="F1F3F8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CV accuracy</c:v>
          </c:tx>
          <c:spPr>
            <a:solidFill xmlns:a="http://schemas.openxmlformats.org/drawingml/2006/main">
              <a:srgbClr val="0753D6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Logistic</c:v>
                </c:pt>
                <c:pt idx="1">
                  <c:v>SVM</c:v>
                </c:pt>
                <c:pt idx="2">
                  <c:v>Tree</c:v>
                </c:pt>
                <c:pt idx="3">
                  <c:v>KNN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0.846429</c:v>
                </c:pt>
                <c:pt idx="1">
                  <c:v>0.848214</c:v>
                </c:pt>
                <c:pt idx="2">
                  <c:v>0.876786</c:v>
                </c:pt>
                <c:pt idx="3">
                  <c:v>0.848214</c:v>
                </c:pt>
              </c:numCache>
            </c:numRef>
          </c:val>
        </c:ser>
        <c:ser>
          <c:idx val="1"/>
          <c:order val="1"/>
          <c:tx>
            <c:v>Test accuracy</c:v>
          </c:tx>
          <c:spPr>
            <a:solidFill xmlns:a="http://schemas.openxmlformats.org/drawingml/2006/main">
              <a:srgbClr val="18A0A6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Logistic</c:v>
                </c:pt>
                <c:pt idx="1">
                  <c:v>SVM</c:v>
                </c:pt>
                <c:pt idx="2">
                  <c:v>Tree</c:v>
                </c:pt>
                <c:pt idx="3">
                  <c:v>KNN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0.833333333333</c:v>
                </c:pt>
                <c:pt idx="1">
                  <c:v>0.833333333333</c:v>
                </c:pt>
                <c:pt idx="2">
                  <c:v>0.833333333333</c:v>
                </c:pt>
                <c:pt idx="3">
                  <c:v>0.833333333333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badi"/>
                  <a:ea typeface="Abadi"/>
                  <a:cs typeface="Abadi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badi"/>
                <a:ea typeface="Abadi"/>
                <a:cs typeface="Abad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C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badi"/>
                <a:ea typeface="Abadi"/>
                <a:cs typeface="Abad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1F3F8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Abadi"/>
              <a:ea typeface="Abadi"/>
              <a:cs typeface="Abadi"/>
            </a:defRPr>
          </a:pPr>
        </a:p>
      </c:txPr>
    </c:legend>
    <c:plotVisOnly val="1"/>
  </c:chart>
  <c:spPr>
    <a:solidFill xmlns:a="http://schemas.openxmlformats.org/drawingml/2006/main">
      <a:srgbClr val="F1F3F8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66675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2"/>
                </a:solidFill>
                <a:latin typeface="Abadi"/>
                <a:ea typeface="Abadi"/>
                <a:cs typeface="Abadi"/>
              </a:rPr>
              <a:t>Emmanuel BONKOUNGOU</a:t>
            </a:r>
          </a:p>
          <a:p xmlns:a="http://schemas.openxmlformats.org/drawingml/2006/main">
            <a:r>
              <a:rPr>
                <a:solidFill>
                  <a:schemeClr val="bg2"/>
                </a:solidFill>
                <a:latin typeface="Abadi"/>
                <a:ea typeface="Abadi"/>
                <a:cs typeface="Abadi"/>
              </a:rPr>
              <a:t>27 October 2026</a:t>
            </a:r>
          </a:p>
        </p:txBody>
      </p:sp>
    </p:spTree>
    <p:extLst>
      <p:ext uri="{BB962C8B-B14F-4D97-AF65-F5344CB8AC3E}">
        <p14:creationId xmlns:p14="http://schemas.microsoft.com/office/powerpoint/2010/main" val="1277611629"/>
      </p:ext>
    </p:extLst>
  </p:cSld>
</p:sld>
</file>

<file path=ppt/slides/slide2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fld id="{5075537C-CA84-1446-933C-8E9D027F9201}" type="slidenum">
              <a:t>2</a:t>
            </a:fld>
            <a:endParaRPr/>
          </a:p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97" y="2113240"/>
            <a:ext cx="5167086" cy="3320824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19" name="Title 1">
            <a:extLst xmlns:a="http://schemas.openxmlformats.org/drawingml/2006/main"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Outline</a:t>
            </a:r>
          </a:p>
        </p:txBody>
      </p:sp>
      <p:sp>
        <p:nvSpPr>
          <p:cNvPr id="20" name="content-3">
            <a:extLst xmlns:a="http://schemas.openxmlformats.org/drawingml/2006/main">
              <a:ext uri="{FF2B5EF4-FFF2-40B4-BE49-F238E27FC236}">
                <a16:creationId xmlns:a16="http://schemas.microsoft.com/office/drawing/2014/main" id="{58CDFE51-3710-47B8-A62E-D843863E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103822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43"/>
                </a:solidFill>
              </a:defRPr>
            </a:defPPr>
            <a:lvl1pPr>
              <a:defRPr sz="2025" b="0">
                <a:solidFill>
                  <a:srgbClr val="182B43"/>
                </a:solidFill>
              </a:defRPr>
            </a:lvl1pPr>
            <a:lvl2pPr>
              <a:defRPr sz="2025" b="0">
                <a:solidFill>
                  <a:srgbClr val="182B43"/>
                </a:solidFill>
              </a:defRPr>
            </a:lvl2pPr>
            <a:lvl3pPr>
              <a:defRPr sz="2025" b="0">
                <a:solidFill>
                  <a:srgbClr val="182B43"/>
                </a:solidFill>
              </a:defRPr>
            </a:lvl3pPr>
            <a:lvl4pPr>
              <a:defRPr sz="2025" b="0">
                <a:solidFill>
                  <a:srgbClr val="182B43"/>
                </a:solidFill>
              </a:defRPr>
            </a:lvl4pPr>
            <a:lvl5pPr>
              <a:defRPr sz="2025" b="0">
                <a:solidFill>
                  <a:srgbClr val="182B43"/>
                </a:solidFill>
              </a:defRPr>
            </a:lvl5pPr>
            <a:lvl6pPr>
              <a:defRPr sz="2025" b="0">
                <a:solidFill>
                  <a:srgbClr val="182B43"/>
                </a:solidFill>
              </a:defRPr>
            </a:lvl6pPr>
            <a:lvl7pPr>
              <a:defRPr sz="2025" b="0">
                <a:solidFill>
                  <a:srgbClr val="182B43"/>
                </a:solidFill>
              </a:defRPr>
            </a:lvl7pPr>
            <a:lvl8pPr>
              <a:defRPr sz="2025" b="0">
                <a:solidFill>
                  <a:srgbClr val="182B43"/>
                </a:solidFill>
              </a:defRPr>
            </a:lvl8pPr>
            <a:lvl9pPr>
              <a:defRPr sz="202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Executive summary and research question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Data collection and preparation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Exploratory analysis with charts and SQL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Interactive maps and dashboard results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Classification models and evaluation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Conclusions, limitations and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</p:sld>
</file>

<file path=ppt/slides/slide3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075537C-CA84-1446-933C-8E9D027F9201}" type="slidenum">
              <a:t>3</a:t>
            </a:fld>
            <a:endParaRPr/>
          </a:p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03" y="2684972"/>
            <a:ext cx="4017889" cy="1039909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19" name="Title 1">
            <a:extLst xmlns:a="http://schemas.openxmlformats.org/drawingml/2006/main"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Executive Summary</a:t>
            </a:r>
            <a:endParaRPr>
              <a:solidFill>
                <a:srgbClr val="0B49CB"/>
              </a:solidFill>
            </a:endParaRPr>
          </a:p>
        </p:txBody>
      </p:sp>
      <p:sp>
        <p:nvSpPr>
          <p:cNvPr id="20" name="content-3">
            <a:extLst xmlns:a="http://schemas.openxmlformats.org/drawingml/2006/main">
              <a:ext uri="{FF2B5EF4-FFF2-40B4-BE49-F238E27FC236}">
                <a16:creationId xmlns:a16="http://schemas.microsoft.com/office/drawing/2014/main" id="{CFB8D0F6-C981-4B98-ADF8-EC642F68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103822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43"/>
                </a:solidFill>
              </a:defRPr>
            </a:defPPr>
            <a:lvl1pPr>
              <a:defRPr sz="2025" b="0">
                <a:solidFill>
                  <a:srgbClr val="182B43"/>
                </a:solidFill>
              </a:defRPr>
            </a:lvl1pPr>
            <a:lvl2pPr>
              <a:defRPr sz="2025" b="0">
                <a:solidFill>
                  <a:srgbClr val="182B43"/>
                </a:solidFill>
              </a:defRPr>
            </a:lvl2pPr>
            <a:lvl3pPr>
              <a:defRPr sz="2025" b="0">
                <a:solidFill>
                  <a:srgbClr val="182B43"/>
                </a:solidFill>
              </a:defRPr>
            </a:lvl3pPr>
            <a:lvl4pPr>
              <a:defRPr sz="2025" b="0">
                <a:solidFill>
                  <a:srgbClr val="182B43"/>
                </a:solidFill>
              </a:defRPr>
            </a:lvl4pPr>
            <a:lvl5pPr>
              <a:defRPr sz="2025" b="0">
                <a:solidFill>
                  <a:srgbClr val="182B43"/>
                </a:solidFill>
              </a:defRPr>
            </a:lvl5pPr>
            <a:lvl6pPr>
              <a:defRPr sz="2025" b="0">
                <a:solidFill>
                  <a:srgbClr val="182B43"/>
                </a:solidFill>
              </a:defRPr>
            </a:lvl6pPr>
            <a:lvl7pPr>
              <a:defRPr sz="2025" b="0">
                <a:solidFill>
                  <a:srgbClr val="182B43"/>
                </a:solidFill>
              </a:defRPr>
            </a:lvl7pPr>
            <a:lvl8pPr>
              <a:defRPr sz="2025" b="0">
                <a:solidFill>
                  <a:srgbClr val="182B43"/>
                </a:solidFill>
              </a:defRPr>
            </a:lvl8pPr>
            <a:lvl9pPr>
              <a:defRPr sz="202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90 launches: 60 positive landing labels (66.7%).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All four classifiers reach 15/18 correct test predictions (83.3%).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Decision tree leads cross-validation at 87.68%.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Site, orbit and launch history show descriptive differences.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A small test set and preprocessing leakage limit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</p:sld>
</file>

<file path=ppt/slides/slide4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5075537C-CA84-1446-933C-8E9D027F9201}" type="slidenum">
              <a:t>4</a:t>
            </a:fld>
            <a:endParaRPr/>
          </a:p>
        </p:txBody>
      </p:sp>
      <p:sp>
        <p:nvSpPr>
          <p:cNvPr id="19" name="Title 1">
            <a:extLst xmlns:a="http://schemas.openxmlformats.org/drawingml/2006/main"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Introduction</a:t>
            </a:r>
            <a:endParaRPr>
              <a:solidFill>
                <a:srgbClr val="0B49CB"/>
              </a:solidFill>
            </a:endParaRPr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E999A1B-8752-489F-A63B-EA2F6018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97" y="2521403"/>
            <a:ext cx="5660840" cy="1898424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20" name="content-3">
            <a:extLst xmlns:a="http://schemas.openxmlformats.org/drawingml/2006/main">
              <a:ext uri="{FF2B5EF4-FFF2-40B4-BE49-F238E27FC236}">
                <a16:creationId xmlns:a16="http://schemas.microsoft.com/office/drawing/2014/main" id="{D026EB61-7737-420A-A24E-BA0008B2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103822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43"/>
                </a:solidFill>
              </a:defRPr>
            </a:defPPr>
            <a:lvl1pPr>
              <a:defRPr sz="2025" b="0">
                <a:solidFill>
                  <a:srgbClr val="182B43"/>
                </a:solidFill>
              </a:defRPr>
            </a:lvl1pPr>
            <a:lvl2pPr>
              <a:defRPr sz="2025" b="0">
                <a:solidFill>
                  <a:srgbClr val="182B43"/>
                </a:solidFill>
              </a:defRPr>
            </a:lvl2pPr>
            <a:lvl3pPr>
              <a:defRPr sz="2025" b="0">
                <a:solidFill>
                  <a:srgbClr val="182B43"/>
                </a:solidFill>
              </a:defRPr>
            </a:lvl3pPr>
            <a:lvl4pPr>
              <a:defRPr sz="2025" b="0">
                <a:solidFill>
                  <a:srgbClr val="182B43"/>
                </a:solidFill>
              </a:defRPr>
            </a:lvl4pPr>
            <a:lvl5pPr>
              <a:defRPr sz="2025" b="0">
                <a:solidFill>
                  <a:srgbClr val="182B43"/>
                </a:solidFill>
              </a:defRPr>
            </a:lvl5pPr>
            <a:lvl6pPr>
              <a:defRPr sz="2025" b="0">
                <a:solidFill>
                  <a:srgbClr val="182B43"/>
                </a:solidFill>
              </a:defRPr>
            </a:lvl6pPr>
            <a:lvl7pPr>
              <a:defRPr sz="2025" b="0">
                <a:solidFill>
                  <a:srgbClr val="182B43"/>
                </a:solidFill>
              </a:defRPr>
            </a:lvl7pPr>
            <a:lvl8pPr>
              <a:defRPr sz="2025" b="0">
                <a:solidFill>
                  <a:srgbClr val="182B43"/>
                </a:solidFill>
              </a:defRPr>
            </a:lvl8pPr>
            <a:lvl9pPr>
              <a:defRPr sz="202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Research question: can historical launch attributes predict the first-stage landing label?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Reusability provides the business motivation. This project predicts landing outcomes rather than launch prices.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Scope: historical IBM teaching datasets. Target: binary landing Class. Mission success is a separate variable.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</p:sld>
</file>

<file path=ppt/slides/slide5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488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5</a:t>
            </a:fld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13" y="2812774"/>
            <a:ext cx="1058303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48CB"/>
          </a:solidFill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Section 1</a:t>
            </a:r>
          </a:p>
        </p:txBody>
      </p:sp>
      <p:sp>
        <p:nvSpPr>
          <p:cNvPr id="4" name="content-2">
            <a:extLst xmlns:a="http://schemas.openxmlformats.org/drawingml/2006/main">
              <a:ext uri="{FF2B5EF4-FFF2-40B4-BE49-F238E27FC236}">
                <a16:creationId xmlns:a16="http://schemas.microsoft.com/office/drawing/2014/main" id="{E04EF1CD-B49D-4987-9929-EF2F99C5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0" b="0">
                <a:solidFill>
                  <a:srgbClr val="182B43"/>
                </a:solidFill>
              </a:defRPr>
            </a:defPPr>
            <a:lvl1pPr>
              <a:defRPr sz="100" b="0">
                <a:solidFill>
                  <a:srgbClr val="182B43"/>
                </a:solidFill>
              </a:defRPr>
            </a:lvl1pPr>
            <a:lvl2pPr>
              <a:defRPr sz="100" b="0">
                <a:solidFill>
                  <a:srgbClr val="182B43"/>
                </a:solidFill>
              </a:defRPr>
            </a:lvl2pPr>
            <a:lvl3pPr>
              <a:defRPr sz="100" b="0">
                <a:solidFill>
                  <a:srgbClr val="182B43"/>
                </a:solidFill>
              </a:defRPr>
            </a:lvl3pPr>
            <a:lvl4pPr>
              <a:defRPr sz="100" b="0">
                <a:solidFill>
                  <a:srgbClr val="182B43"/>
                </a:solidFill>
              </a:defRPr>
            </a:lvl4pPr>
            <a:lvl5pPr>
              <a:defRPr sz="100" b="0">
                <a:solidFill>
                  <a:srgbClr val="182B43"/>
                </a:solidFill>
              </a:defRPr>
            </a:lvl5pPr>
            <a:lvl6pPr>
              <a:defRPr sz="100" b="0">
                <a:solidFill>
                  <a:srgbClr val="182B43"/>
                </a:solidFill>
              </a:defRPr>
            </a:lvl6pPr>
            <a:lvl7pPr>
              <a:defRPr sz="100" b="0">
                <a:solidFill>
                  <a:srgbClr val="182B43"/>
                </a:solidFill>
              </a:defRPr>
            </a:lvl7pPr>
            <a:lvl8pPr>
              <a:defRPr sz="100" b="0">
                <a:solidFill>
                  <a:srgbClr val="182B43"/>
                </a:solidFill>
              </a:defRPr>
            </a:lvl8pPr>
            <a:lvl9pPr>
              <a:defRPr sz="100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</p:sld>
</file>

<file path=ppt/slides/slide6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6</a:t>
            </a:fld>
            <a:endParaRPr/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BFEC426-B615-E549-83E5-140FD588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1580808"/>
            <a:ext cx="10104817" cy="5211877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rPr sz="8800">
                <a:solidFill>
                  <a:srgbClr val="0B49CB"/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13" name="Title 1">
            <a:extLst xmlns:a="http://schemas.openxmlformats.org/drawingml/2006/main"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Methodology</a:t>
            </a:r>
            <a:endParaRPr>
              <a:solidFill>
                <a:srgbClr val="0B49CB"/>
              </a:solidFill>
            </a:endParaRPr>
          </a:p>
        </p:txBody>
      </p:sp>
      <p:sp>
        <p:nvSpPr>
          <p:cNvPr id="14" name="content-3">
            <a:extLst xmlns:a="http://schemas.openxmlformats.org/drawingml/2006/main">
              <a:ext uri="{FF2B5EF4-FFF2-40B4-BE49-F238E27FC236}">
                <a16:creationId xmlns:a16="http://schemas.microsoft.com/office/drawing/2014/main" id="{96CBD236-2E51-4025-9DAC-A4EF4501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103822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43"/>
                </a:solidFill>
              </a:defRPr>
            </a:defPPr>
            <a:lvl1pPr>
              <a:defRPr sz="2025" b="0">
                <a:solidFill>
                  <a:srgbClr val="182B43"/>
                </a:solidFill>
              </a:defRPr>
            </a:lvl1pPr>
            <a:lvl2pPr>
              <a:defRPr sz="2025" b="0">
                <a:solidFill>
                  <a:srgbClr val="182B43"/>
                </a:solidFill>
              </a:defRPr>
            </a:lvl2pPr>
            <a:lvl3pPr>
              <a:defRPr sz="2025" b="0">
                <a:solidFill>
                  <a:srgbClr val="182B43"/>
                </a:solidFill>
              </a:defRPr>
            </a:lvl3pPr>
            <a:lvl4pPr>
              <a:defRPr sz="2025" b="0">
                <a:solidFill>
                  <a:srgbClr val="182B43"/>
                </a:solidFill>
              </a:defRPr>
            </a:lvl4pPr>
            <a:lvl5pPr>
              <a:defRPr sz="2025" b="0">
                <a:solidFill>
                  <a:srgbClr val="182B43"/>
                </a:solidFill>
              </a:defRPr>
            </a:lvl5pPr>
            <a:lvl6pPr>
              <a:defRPr sz="2025" b="0">
                <a:solidFill>
                  <a:srgbClr val="182B43"/>
                </a:solidFill>
              </a:defRPr>
            </a:lvl6pPr>
            <a:lvl7pPr>
              <a:defRPr sz="2025" b="0">
                <a:solidFill>
                  <a:srgbClr val="182B43"/>
                </a:solidFill>
              </a:defRPr>
            </a:lvl7pPr>
            <a:lvl8pPr>
              <a:defRPr sz="2025" b="0">
                <a:solidFill>
                  <a:srgbClr val="182B43"/>
                </a:solidFill>
              </a:defRPr>
            </a:lvl8pPr>
            <a:lvl9pPr>
              <a:defRPr sz="202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Collect historical launch data through a REST API and HTML tables.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Clean records, define landing labels and encode categorical features.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Use SQL and exploratory charts to investigate patterns.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Use Folium and Dash to explore locations and filtered outcomes.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Tune four classifiers with 10-fold cross-validation, then evaluate 18 held-out launches.</a:t>
            </a: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7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1" y="1825625"/>
            <a:ext cx="10515600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12" name="Title 1">
            <a:extLst xmlns:a="http://schemas.openxmlformats.org/drawingml/2006/main"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Data Collection</a:t>
            </a:r>
            <a:endParaRPr>
              <a:solidFill>
                <a:srgbClr val="0B49CB"/>
              </a:solidFill>
            </a:endParaRP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87DF7-78E9-401B-BA78-C08FF58F93CD}"/>
              </a:ext>
            </a:extLst>
          </p:cNvPr>
          <p:cNvGraphicFramePr/>
          <p:nvPr/>
        </p:nvGraphicFramePr>
        <p:xfrm>
          <a:off xmlns:a="http://schemas.openxmlformats.org/drawingml/2006/main" x="876300" y="1714500"/>
          <a:ext xmlns:a="http://schemas.openxmlformats.org/drawingml/2006/main" cx="1038225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60750"/>
                <a:gridCol w="3460750"/>
                <a:gridCol w="3460750"/>
              </a:tblGrid>
              <a:tr h="7048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Analysis population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SpaceX API teaching snapshot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Launch details and resource lookups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90 modeled Falcon 9 launches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Wikipedia revision, 9 June 2021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Historical launch table extraction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Separate scraped export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Spacex.csv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SQL exploration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101 historical records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Geo and Dash teaching CSVs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Interactive visual analytics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56 launches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</a:tbl>
          </a:graphicData>
        </a:graphic>
      </p:graphicFrame>
      <p:sp>
        <p:nvSpPr>
          <p:cNvPr id="14" name="content-3">
            <a:extLst xmlns:a="http://schemas.openxmlformats.org/drawingml/2006/main">
              <a:ext uri="{FF2B5EF4-FFF2-40B4-BE49-F238E27FC236}">
                <a16:creationId xmlns:a16="http://schemas.microsoft.com/office/drawing/2014/main" id="{0F3627AC-2A3E-4A14-8B83-734BAFBB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The datasets have different scopes. Counts and success rates must retain their denominators.</a:t>
            </a: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</p:sld>
</file>

<file path=ppt/slides/slide8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8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5910262" y="1792288"/>
            <a:ext cx="5461000" cy="42068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/>
            </a:r>
            <a:endParaRPr sz="2200">
              <a:solidFill>
                <a:srgbClr val="1C7DDB"/>
              </a:solidFill>
              <a:latin typeface="Abadi"/>
              <a:ea typeface="Abadi"/>
              <a:cs typeface="Abadi"/>
            </a:endParaRP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820738" y="1800225"/>
            <a:ext cx="4640263" cy="42259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Data Collection: SpaceX API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362F1-4207-4D67-88E8-9CBC318C7664}"/>
              </a:ext>
            </a:extLst>
          </p:cNvPr>
          <p:cNvGraphicFramePr/>
          <p:nvPr/>
        </p:nvGraphicFramePr>
        <p:xfrm>
          <a:off xmlns:a="http://schemas.openxmlformats.org/drawingml/2006/main" x="876300" y="1714500"/>
          <a:ext xmlns:a="http://schemas.openxmlformats.org/drawingml/2006/main" cx="1038225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5191125"/>
              </a:tblGrid>
              <a:tr h="5873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Implementation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Request and parse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GET snapshot, response.json(), pd.json_normalize()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Enrich identifiers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Resolve rocket, launchpad, payload and core IDs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Restrict population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One payload and one core, date through 13 Nov 2020, Falcon 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Prepare export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Fill missing payload masses with the mean, retain missing LandingPad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Output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dataset_part_1.csv, followed by 90-row modeling snapshot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content-4">
            <a:extLst xmlns:a="http://schemas.openxmlformats.org/drawingml/2006/main">
              <a:ext uri="{FF2B5EF4-FFF2-40B4-BE49-F238E27FC236}">
                <a16:creationId xmlns:a16="http://schemas.microsoft.com/office/drawing/2014/main" id="{550833CA-343C-468E-A36C-0FC2B838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API notebook completed. Report statistics use the supplied downstream teaching snapshot.</a:t>
            </a:r>
          </a:p>
        </p:txBody>
      </p:sp>
    </p:spTree>
    <p:extLst>
      <p:ext uri="{BB962C8B-B14F-4D97-AF65-F5344CB8AC3E}">
        <p14:creationId xmlns:p14="http://schemas.microsoft.com/office/powerpoint/2010/main" val="280316088"/>
      </p:ext>
    </p:extLst>
  </p:cSld>
</p:sld>
</file>

<file path=ppt/slides/slide9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9</a:t>
            </a:fld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922411" y="1792288"/>
            <a:ext cx="3932238" cy="3811587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lIns="91440" tIns="45720" rIns="91440" bIns="45720" anchor="ctr">
            <a:normAutofit fontScale="92500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endParaRPr>
              <a:solidFill>
                <a:srgbClr val="1C7DDB"/>
              </a:solidFill>
              <a:latin typeface="Abadi"/>
              <a:ea typeface="Abadi"/>
              <a:cs typeface="Abadi"/>
            </a:endParaRPr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Data Collection: Web Scraping</a:t>
            </a:r>
            <a:endParaRPr>
              <a:solidFill>
                <a:srgbClr val="0B49CB"/>
              </a:solidFill>
            </a:endParaRPr>
          </a:p>
        </p:txBody>
      </p:sp>
      <p:sp>
        <p:nvSpPr>
          <p:cNvPr id="2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8B78C759-C687-440F-8CAE-D3071F1A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2" y="1792288"/>
            <a:ext cx="5461000" cy="42068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Font typeface="Arial"/>
              <a:buNone/>
            </a:pPr>
            <a:r>
              <a:t/>
            </a:r>
            <a:endParaRPr sz="2200">
              <a:solidFill>
                <a:srgbClr val="1C7DDB"/>
              </a:solidFill>
              <a:latin typeface="Abadi"/>
              <a:ea typeface="Abadi"/>
              <a:cs typeface="Abadi"/>
            </a:endParaRP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F28C4-3AB6-47E2-8AB7-A1D3E6592EF7}"/>
              </a:ext>
            </a:extLst>
          </p:cNvPr>
          <p:cNvGraphicFramePr/>
          <p:nvPr/>
        </p:nvGraphicFramePr>
        <p:xfrm>
          <a:off xmlns:a="http://schemas.openxmlformats.org/drawingml/2006/main" x="876300" y="1714500"/>
          <a:ext xmlns:a="http://schemas.openxmlformats.org/drawingml/2006/main" cx="1038225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5191125"/>
              </a:tblGrid>
              <a:tr h="5873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Implementation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Retrieve HTML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Historical Wikipedia page rather than the evolving live table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Locate launch records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BeautifulSoup, table headers and launch-number rows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Clean cell text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Remove reference annotations, normalize text and mass strings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Build dataset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Flight number, date/time, booster, site, payload, orbit, outcome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Output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spacex_web_scraped.csv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3" name="content-5">
            <a:extLst xmlns:a="http://schemas.openxmlformats.org/drawingml/2006/main">
              <a:ext uri="{FF2B5EF4-FFF2-40B4-BE49-F238E27FC236}">
                <a16:creationId xmlns:a16="http://schemas.microsoft.com/office/drawing/2014/main" id="{FC2790A9-D6AC-4BC1-8BD8-7BA03130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The scraping notebook is completed. Its export is separate from the modeling sample.</a:t>
            </a:r>
          </a:p>
        </p:txBody>
      </p:sp>
    </p:spTree>
    <p:extLst>
      <p:ext uri="{BB962C8B-B14F-4D97-AF65-F5344CB8AC3E}">
        <p14:creationId xmlns:p14="http://schemas.microsoft.com/office/powerpoint/2010/main" val="1385553969"/>
      </p:ext>
    </p:extLst>
  </p:cSld>
</p:sld>
</file>

<file path=ppt/slides/slide10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10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1" y="1825625"/>
            <a:ext cx="8975652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Data Wrangling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EDD3F-4647-47C4-AB53-C39E12902229}"/>
              </a:ext>
            </a:extLst>
          </p:cNvPr>
          <p:cNvGraphicFramePr/>
          <p:nvPr/>
        </p:nvGraphicFramePr>
        <p:xfrm>
          <a:off xmlns:a="http://schemas.openxmlformats.org/drawingml/2006/main" x="876300" y="1714500"/>
          <a:ext xmlns:a="http://schemas.openxmlformats.org/drawingml/2006/main" cx="1038225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5191125"/>
              </a:tblGrid>
              <a:tr h="5873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Result / rationale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Inspect missing values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LandingPad: 26/90 missing in the API teaching dataset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Payload mass imputation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Replace missing values with the observed mean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Create target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60 positive and 30 negative labels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One-hot encoding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Orbit, LaunchSite, LandingPad and Serial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Feature matrix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90 rows × 80 float64 predictors, target stored separately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0" name="content-3">
            <a:extLst xmlns:a="http://schemas.openxmlformats.org/drawingml/2006/main">
              <a:ext uri="{FF2B5EF4-FFF2-40B4-BE49-F238E27FC236}">
                <a16:creationId xmlns:a16="http://schemas.microsoft.com/office/drawing/2014/main" id="{2B703CD0-29F4-4B36-80DD-D38CDF88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Lab convention counts True Ocean as positive. Successful recovery for reuse is a stricter business target.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</p:sld>
</file>

<file path=ppt/slides/slide11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11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EDA with Data Visualization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B91C2382-0D36-43F4-9493-0AD7647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103822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43"/>
                </a:solidFill>
              </a:defRPr>
            </a:defPPr>
            <a:lvl1pPr>
              <a:defRPr sz="2025" b="0">
                <a:solidFill>
                  <a:srgbClr val="182B43"/>
                </a:solidFill>
              </a:defRPr>
            </a:lvl1pPr>
            <a:lvl2pPr>
              <a:defRPr sz="2025" b="0">
                <a:solidFill>
                  <a:srgbClr val="182B43"/>
                </a:solidFill>
              </a:defRPr>
            </a:lvl2pPr>
            <a:lvl3pPr>
              <a:defRPr sz="2025" b="0">
                <a:solidFill>
                  <a:srgbClr val="182B43"/>
                </a:solidFill>
              </a:defRPr>
            </a:lvl3pPr>
            <a:lvl4pPr>
              <a:defRPr sz="2025" b="0">
                <a:solidFill>
                  <a:srgbClr val="182B43"/>
                </a:solidFill>
              </a:defRPr>
            </a:lvl4pPr>
            <a:lvl5pPr>
              <a:defRPr sz="2025" b="0">
                <a:solidFill>
                  <a:srgbClr val="182B43"/>
                </a:solidFill>
              </a:defRPr>
            </a:lvl5pPr>
            <a:lvl6pPr>
              <a:defRPr sz="2025" b="0">
                <a:solidFill>
                  <a:srgbClr val="182B43"/>
                </a:solidFill>
              </a:defRPr>
            </a:lvl6pPr>
            <a:lvl7pPr>
              <a:defRPr sz="2025" b="0">
                <a:solidFill>
                  <a:srgbClr val="182B43"/>
                </a:solidFill>
              </a:defRPr>
            </a:lvl7pPr>
            <a:lvl8pPr>
              <a:defRPr sz="2025" b="0">
                <a:solidFill>
                  <a:srgbClr val="182B43"/>
                </a:solidFill>
              </a:defRPr>
            </a:lvl8pPr>
            <a:lvl9pPr>
              <a:defRPr sz="202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Scatterplots: launch number and payload against site and orbit, colored by Class.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Bar chart: mean Class by orbit, with sample counts.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Line chart: mean Class by launch year.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These views describe associations. Site, mission type and technology also change over time.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</p:sld>
</file>

<file path=ppt/slides/slide12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12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06575"/>
            <a:ext cx="9745589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  <a:endParaRPr sz="2200">
              <a:solidFill>
                <a:schemeClr val="accent3">
                  <a:lumMod val="25000"/>
                </a:schemeClr>
              </a:solidFill>
              <a:latin typeface="Abadi"/>
              <a:ea typeface="Abadi"/>
              <a:cs typeface="Abadi"/>
            </a:endParaRP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EDA with SQL</a:t>
            </a:r>
            <a:endParaRPr>
              <a:solidFill>
                <a:srgbClr val="0B49CB"/>
              </a:solidFill>
            </a:endParaRP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D161420B-3D11-4070-86A5-A9E260EC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103822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43"/>
                </a:solidFill>
              </a:defRPr>
            </a:defPPr>
            <a:lvl1pPr>
              <a:defRPr sz="2025" b="0">
                <a:solidFill>
                  <a:srgbClr val="182B43"/>
                </a:solidFill>
              </a:defRPr>
            </a:lvl1pPr>
            <a:lvl2pPr>
              <a:defRPr sz="2025" b="0">
                <a:solidFill>
                  <a:srgbClr val="182B43"/>
                </a:solidFill>
              </a:defRPr>
            </a:lvl2pPr>
            <a:lvl3pPr>
              <a:defRPr sz="2025" b="0">
                <a:solidFill>
                  <a:srgbClr val="182B43"/>
                </a:solidFill>
              </a:defRPr>
            </a:lvl3pPr>
            <a:lvl4pPr>
              <a:defRPr sz="2025" b="0">
                <a:solidFill>
                  <a:srgbClr val="182B43"/>
                </a:solidFill>
              </a:defRPr>
            </a:lvl4pPr>
            <a:lvl5pPr>
              <a:defRPr sz="2025" b="0">
                <a:solidFill>
                  <a:srgbClr val="182B43"/>
                </a:solidFill>
              </a:defRPr>
            </a:lvl5pPr>
            <a:lvl6pPr>
              <a:defRPr sz="2025" b="0">
                <a:solidFill>
                  <a:srgbClr val="182B43"/>
                </a:solidFill>
              </a:defRPr>
            </a:lvl6pPr>
            <a:lvl7pPr>
              <a:defRPr sz="2025" b="0">
                <a:solidFill>
                  <a:srgbClr val="182B43"/>
                </a:solidFill>
              </a:defRPr>
            </a:lvl7pPr>
            <a:lvl8pPr>
              <a:defRPr sz="2025" b="0">
                <a:solidFill>
                  <a:srgbClr val="182B43"/>
                </a:solidFill>
              </a:defRPr>
            </a:lvl8pPr>
            <a:lvl9pPr>
              <a:defRPr sz="202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DISTINCT and LIKE identify launch sites and matching records.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SUM and AVG quantify customer payload totals and booster payload means.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MIN identifies the first successful ground landing.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GROUP BY counts mission and landing outcomes.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Subqueries identify all boosters carrying the maximum payload.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Date filters isolate 2015 failures and rank outcomes over a fixed period.</a:t>
            </a: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</p:sld>
</file>

<file path=ppt/slides/slide13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13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38200" y="1875054"/>
            <a:ext cx="10515600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Interactive Map Methodology</a:t>
            </a:r>
            <a:endParaRPr>
              <a:solidFill>
                <a:srgbClr val="0B49CB"/>
              </a:solidFill>
            </a:endParaRP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A613419D-941A-4651-B1F2-BF119760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103822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43"/>
                </a:solidFill>
              </a:defRPr>
            </a:defPPr>
            <a:lvl1pPr>
              <a:defRPr sz="2025" b="0">
                <a:solidFill>
                  <a:srgbClr val="182B43"/>
                </a:solidFill>
              </a:defRPr>
            </a:lvl1pPr>
            <a:lvl2pPr>
              <a:defRPr sz="2025" b="0">
                <a:solidFill>
                  <a:srgbClr val="182B43"/>
                </a:solidFill>
              </a:defRPr>
            </a:lvl2pPr>
            <a:lvl3pPr>
              <a:defRPr sz="2025" b="0">
                <a:solidFill>
                  <a:srgbClr val="182B43"/>
                </a:solidFill>
              </a:defRPr>
            </a:lvl3pPr>
            <a:lvl4pPr>
              <a:defRPr sz="2025" b="0">
                <a:solidFill>
                  <a:srgbClr val="182B43"/>
                </a:solidFill>
              </a:defRPr>
            </a:lvl4pPr>
            <a:lvl5pPr>
              <a:defRPr sz="2025" b="0">
                <a:solidFill>
                  <a:srgbClr val="182B43"/>
                </a:solidFill>
              </a:defRPr>
            </a:lvl5pPr>
            <a:lvl6pPr>
              <a:defRPr sz="2025" b="0">
                <a:solidFill>
                  <a:srgbClr val="182B43"/>
                </a:solidFill>
              </a:defRPr>
            </a:lvl6pPr>
            <a:lvl7pPr>
              <a:defRPr sz="2025" b="0">
                <a:solidFill>
                  <a:srgbClr val="182B43"/>
                </a:solidFill>
              </a:defRPr>
            </a:lvl7pPr>
            <a:lvl8pPr>
              <a:defRPr sz="2025" b="0">
                <a:solidFill>
                  <a:srgbClr val="182B43"/>
                </a:solidFill>
              </a:defRPr>
            </a:lvl8pPr>
            <a:lvl9pPr>
              <a:defRPr sz="202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Folium circles and labels locate each launch site.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MarkerCluster groups overlapping launch records. Green means class 1, red means class 0.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MousePosition displays coordinates for exploration.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Haversine distances and PolyLine connect sites to selected study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Distance results are straight-line reference measurements, not validated shortest distances to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</p:sld>
</file>

<file path=ppt/slides/slide14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14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Plotly Dash Methodology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916F3806-9B63-469B-B79B-AB788364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103822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43"/>
                </a:solidFill>
              </a:defRPr>
            </a:defPPr>
            <a:lvl1pPr>
              <a:defRPr sz="2025" b="0">
                <a:solidFill>
                  <a:srgbClr val="182B43"/>
                </a:solidFill>
              </a:defRPr>
            </a:lvl1pPr>
            <a:lvl2pPr>
              <a:defRPr sz="2025" b="0">
                <a:solidFill>
                  <a:srgbClr val="182B43"/>
                </a:solidFill>
              </a:defRPr>
            </a:lvl2pPr>
            <a:lvl3pPr>
              <a:defRPr sz="2025" b="0">
                <a:solidFill>
                  <a:srgbClr val="182B43"/>
                </a:solidFill>
              </a:defRPr>
            </a:lvl3pPr>
            <a:lvl4pPr>
              <a:defRPr sz="2025" b="0">
                <a:solidFill>
                  <a:srgbClr val="182B43"/>
                </a:solidFill>
              </a:defRPr>
            </a:lvl4pPr>
            <a:lvl5pPr>
              <a:defRPr sz="2025" b="0">
                <a:solidFill>
                  <a:srgbClr val="182B43"/>
                </a:solidFill>
              </a:defRPr>
            </a:lvl5pPr>
            <a:lvl6pPr>
              <a:defRPr sz="2025" b="0">
                <a:solidFill>
                  <a:srgbClr val="182B43"/>
                </a:solidFill>
              </a:defRPr>
            </a:lvl6pPr>
            <a:lvl7pPr>
              <a:defRPr sz="2025" b="0">
                <a:solidFill>
                  <a:srgbClr val="182B43"/>
                </a:solidFill>
              </a:defRPr>
            </a:lvl7pPr>
            <a:lvl8pPr>
              <a:defRPr sz="2025" b="0">
                <a:solidFill>
                  <a:srgbClr val="182B43"/>
                </a:solidFill>
              </a:defRPr>
            </a:lvl8pPr>
            <a:lvl9pPr>
              <a:defRPr sz="202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Searchable dropdown: ALL or one launch site.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ALL: pie chart of successful launch counts by site.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Single site: pie chart of class 0 versus class 1.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Payload slider: 0 to 10,000 kg, in 1,000 kg steps.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Scatterplot: payload versus Class, colored by booster version.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The pie responds to the site dropdown. The scatter responds to both inputs.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</p:sld>
</file>

<file path=ppt/slides/slide15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15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Predictive Analysis Methodology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C8DD4-02A3-459C-8700-F34E08ECBDBA}"/>
              </a:ext>
            </a:extLst>
          </p:cNvPr>
          <p:cNvGraphicFramePr/>
          <p:nvPr/>
        </p:nvGraphicFramePr>
        <p:xfrm>
          <a:off xmlns:a="http://schemas.openxmlformats.org/drawingml/2006/main" x="876300" y="1714500"/>
          <a:ext xmlns:a="http://schemas.openxmlformats.org/drawingml/2006/main" cx="1038225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5191125"/>
              </a:tblGrid>
              <a:tr h="50346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Configuration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Input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90 records, 83 encoded features, binary Class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Preprocessing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StandardScaler fitted before split, as required by lab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Split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train_test_split(test_size=0.2, random_state=2)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Training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72 records, GridSearchCV with cv=10 and accuracy scoring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Models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Logistic regression, SVM, decision tree, KNN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Evaluation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18 test records, accuracy and confusion matrices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</a:tbl>
          </a:graphicData>
        </a:graphic>
      </p:graphicFrame>
      <p:sp>
        <p:nvSpPr>
          <p:cNvPr id="7" name="content-3">
            <a:extLst xmlns:a="http://schemas.openxmlformats.org/drawingml/2006/main">
              <a:ext uri="{FF2B5EF4-FFF2-40B4-BE49-F238E27FC236}">
                <a16:creationId xmlns:a16="http://schemas.microsoft.com/office/drawing/2014/main" id="{2E1A067E-AF62-4D02-BCCD-65BEDA91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A production evaluation should fit preprocessing inside each cross-validation training fold.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</p:sld>
</file>

<file path=ppt/slides/slide16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B9C153-C85C-3240-8E7E-523FBC00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25" y="1807337"/>
            <a:ext cx="7068725" cy="1621663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16</a:t>
            </a:fld>
            <a:endParaRPr/>
          </a:p>
        </p:txBody>
      </p:sp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Results</a:t>
            </a:r>
            <a:endParaRPr>
              <a:solidFill>
                <a:srgbClr val="0B49CB"/>
              </a:solidFill>
            </a:endParaRPr>
          </a:p>
        </p:txBody>
      </p:sp>
      <p:sp>
        <p:nvSpPr>
          <p:cNvPr id="9" name="content-3">
            <a:extLst xmlns:a="http://schemas.openxmlformats.org/drawingml/2006/main">
              <a:ext uri="{FF2B5EF4-FFF2-40B4-BE49-F238E27FC236}">
                <a16:creationId xmlns:a16="http://schemas.microsoft.com/office/drawing/2014/main" id="{24586C0F-4F55-4788-BD40-4D841B14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103822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43"/>
                </a:solidFill>
              </a:defRPr>
            </a:defPPr>
            <a:lvl1pPr>
              <a:defRPr sz="2025" b="0">
                <a:solidFill>
                  <a:srgbClr val="182B43"/>
                </a:solidFill>
              </a:defRPr>
            </a:lvl1pPr>
            <a:lvl2pPr>
              <a:defRPr sz="2025" b="0">
                <a:solidFill>
                  <a:srgbClr val="182B43"/>
                </a:solidFill>
              </a:defRPr>
            </a:lvl2pPr>
            <a:lvl3pPr>
              <a:defRPr sz="2025" b="0">
                <a:solidFill>
                  <a:srgbClr val="182B43"/>
                </a:solidFill>
              </a:defRPr>
            </a:lvl3pPr>
            <a:lvl4pPr>
              <a:defRPr sz="2025" b="0">
                <a:solidFill>
                  <a:srgbClr val="182B43"/>
                </a:solidFill>
              </a:defRPr>
            </a:lvl4pPr>
            <a:lvl5pPr>
              <a:defRPr sz="2025" b="0">
                <a:solidFill>
                  <a:srgbClr val="182B43"/>
                </a:solidFill>
              </a:defRPr>
            </a:lvl5pPr>
            <a:lvl6pPr>
              <a:defRPr sz="2025" b="0">
                <a:solidFill>
                  <a:srgbClr val="182B43"/>
                </a:solidFill>
              </a:defRPr>
            </a:lvl6pPr>
            <a:lvl7pPr>
              <a:defRPr sz="2025" b="0">
                <a:solidFill>
                  <a:srgbClr val="182B43"/>
                </a:solidFill>
              </a:defRPr>
            </a:lvl7pPr>
            <a:lvl8pPr>
              <a:defRPr sz="2025" b="0">
                <a:solidFill>
                  <a:srgbClr val="182B43"/>
                </a:solidFill>
              </a:defRPr>
            </a:lvl8pPr>
            <a:lvl9pPr>
              <a:defRPr sz="202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EDA: outcome patterns across orbit, site, payload and time.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SQL: query outputs with explicit filters and population scope.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Interactive analytics: geographic layers and dashboard selections.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Classification: test accuracy, validation performance and error analysis.</a:t>
            </a: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</p:sld>
</file>

<file path=ppt/slides/slide17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970" y="2529746"/>
            <a:ext cx="1058303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48CB"/>
          </a:solidFill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</p:sld>
</file>

<file path=ppt/slides/slide18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18</a:t>
            </a:fld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864973" y="2057400"/>
            <a:ext cx="3932238" cy="381158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  <a:endParaRPr sz="2200">
              <a:solidFill>
                <a:schemeClr val="accent3">
                  <a:lumMod val="25000"/>
                </a:schemeClr>
              </a:solidFill>
              <a:latin typeface="Abadi"/>
              <a:ea typeface="Abadi"/>
              <a:cs typeface="Abadi"/>
            </a:endParaR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Flight Number vs. Launch Site</a:t>
            </a:r>
            <a:endParaRPr>
              <a:solidFill>
                <a:srgbClr val="0B49CB"/>
              </a:solidFill>
            </a:endParaRP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82BE1722-7557-4CFF-9CA3-B477517E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3238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3"/>
                </a:solidFill>
              </a:defRPr>
            </a:defPPr>
            <a:lvl1pPr>
              <a:defRPr sz="1875" b="0">
                <a:solidFill>
                  <a:srgbClr val="182B43"/>
                </a:solidFill>
              </a:defRPr>
            </a:lvl1pPr>
            <a:lvl2pPr>
              <a:defRPr sz="1875" b="0">
                <a:solidFill>
                  <a:srgbClr val="182B43"/>
                </a:solidFill>
              </a:defRPr>
            </a:lvl2pPr>
            <a:lvl3pPr>
              <a:defRPr sz="1875" b="0">
                <a:solidFill>
                  <a:srgbClr val="182B43"/>
                </a:solidFill>
              </a:defRPr>
            </a:lvl3pPr>
            <a:lvl4pPr>
              <a:defRPr sz="1875" b="0">
                <a:solidFill>
                  <a:srgbClr val="182B43"/>
                </a:solidFill>
              </a:defRPr>
            </a:lvl4pPr>
            <a:lvl5pPr>
              <a:defRPr sz="1875" b="0">
                <a:solidFill>
                  <a:srgbClr val="182B43"/>
                </a:solidFill>
              </a:defRPr>
            </a:lvl5pPr>
            <a:lvl6pPr>
              <a:defRPr sz="1875" b="0">
                <a:solidFill>
                  <a:srgbClr val="182B43"/>
                </a:solidFill>
              </a:defRPr>
            </a:lvl6pPr>
            <a:lvl7pPr>
              <a:defRPr sz="1875" b="0">
                <a:solidFill>
                  <a:srgbClr val="182B43"/>
                </a:solidFill>
              </a:defRPr>
            </a:lvl7pPr>
            <a:lvl8pPr>
              <a:defRPr sz="1875" b="0">
                <a:solidFill>
                  <a:srgbClr val="182B43"/>
                </a:solidFill>
              </a:defRPr>
            </a:lvl8pPr>
            <a:lvl9pPr>
              <a:defRPr sz="187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Later launches contain more successful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CCAFS SLC 40: 55 launches</a:t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KSC LC 39A: 22 launches</a:t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VAFB SLC 4E: 13 launches</a:t>
            </a:r>
          </a:p>
        </p:txBody>
      </p:sp>
      <p:sp>
        <p:nvSpPr>
          <p:cNvPr id="8" name="content-4">
            <a:extLst xmlns:a="http://schemas.openxmlformats.org/drawingml/2006/main">
              <a:ext uri="{FF2B5EF4-FFF2-40B4-BE49-F238E27FC236}">
                <a16:creationId xmlns:a16="http://schemas.microsoft.com/office/drawing/2014/main" id="{0B646ADB-8CCB-4FA7-95CF-7E2C8486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90-row modeling dataset. Class 0 and Class 1 appear in the original notebook plot legend.</a:t>
            </a:r>
          </a:p>
        </p:txBody>
      </p:sp>
    </p:spTree>
    <p:extLst>
      <p:ext uri="{BB962C8B-B14F-4D97-AF65-F5344CB8AC3E}">
        <p14:creationId xmlns:p14="http://schemas.microsoft.com/office/powerpoint/2010/main" val="3865605948"/>
      </p:ext>
    </p:extLst>
  </p:cSld>
</p:sld>
</file>

<file path=ppt/slides/slide19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19</a:t>
            </a:fld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770011" y="2069757"/>
            <a:ext cx="3932238" cy="381158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  <a:endParaRPr sz="2200">
              <a:solidFill>
                <a:schemeClr val="accent3">
                  <a:lumMod val="25000"/>
                </a:schemeClr>
              </a:solidFill>
              <a:latin typeface="Abadi"/>
              <a:ea typeface="Abadi"/>
              <a:cs typeface="Abadi"/>
            </a:endParaR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Payload vs. Launch Site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A87CD4CE-9E5E-4A29-8270-9104DE94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3238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3"/>
                </a:solidFill>
              </a:defRPr>
            </a:defPPr>
            <a:lvl1pPr>
              <a:defRPr sz="1875" b="0">
                <a:solidFill>
                  <a:srgbClr val="182B43"/>
                </a:solidFill>
              </a:defRPr>
            </a:lvl1pPr>
            <a:lvl2pPr>
              <a:defRPr sz="1875" b="0">
                <a:solidFill>
                  <a:srgbClr val="182B43"/>
                </a:solidFill>
              </a:defRPr>
            </a:lvl2pPr>
            <a:lvl3pPr>
              <a:defRPr sz="1875" b="0">
                <a:solidFill>
                  <a:srgbClr val="182B43"/>
                </a:solidFill>
              </a:defRPr>
            </a:lvl3pPr>
            <a:lvl4pPr>
              <a:defRPr sz="1875" b="0">
                <a:solidFill>
                  <a:srgbClr val="182B43"/>
                </a:solidFill>
              </a:defRPr>
            </a:lvl4pPr>
            <a:lvl5pPr>
              <a:defRPr sz="1875" b="0">
                <a:solidFill>
                  <a:srgbClr val="182B43"/>
                </a:solidFill>
              </a:defRPr>
            </a:lvl5pPr>
            <a:lvl6pPr>
              <a:defRPr sz="1875" b="0">
                <a:solidFill>
                  <a:srgbClr val="182B43"/>
                </a:solidFill>
              </a:defRPr>
            </a:lvl6pPr>
            <a:lvl7pPr>
              <a:defRPr sz="1875" b="0">
                <a:solidFill>
                  <a:srgbClr val="182B43"/>
                </a:solidFill>
              </a:defRPr>
            </a:lvl7pPr>
            <a:lvl8pPr>
              <a:defRPr sz="1875" b="0">
                <a:solidFill>
                  <a:srgbClr val="182B43"/>
                </a:solidFill>
              </a:defRPr>
            </a:lvl8pPr>
            <a:lvl9pPr>
              <a:defRPr sz="187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The observed payload distribution differs by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VAFB has no payload above 10,000 kg in this sample.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These differences may reflect mission assignment.</a:t>
            </a:r>
          </a:p>
        </p:txBody>
      </p:sp>
      <p:sp>
        <p:nvSpPr>
          <p:cNvPr id="8" name="content-4">
            <a:extLst xmlns:a="http://schemas.openxmlformats.org/drawingml/2006/main">
              <a:ext uri="{FF2B5EF4-FFF2-40B4-BE49-F238E27FC236}">
                <a16:creationId xmlns:a16="http://schemas.microsoft.com/office/drawing/2014/main" id="{399A8CE6-F903-46DE-9503-6AE6500C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Payload mass is measured in kilograms. Descriptive association, not a causal site effect.</a:t>
            </a:r>
          </a:p>
        </p:txBody>
      </p:sp>
    </p:spTree>
    <p:extLst>
      <p:ext uri="{BB962C8B-B14F-4D97-AF65-F5344CB8AC3E}">
        <p14:creationId xmlns:p14="http://schemas.microsoft.com/office/powerpoint/2010/main" val="3869789237"/>
      </p:ext>
    </p:extLst>
  </p:cSld>
</p:sld>
</file>

<file path=ppt/slides/slide20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20</a:t>
            </a:fld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770011" y="2082114"/>
            <a:ext cx="3932238" cy="381158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Success Rate vs. Orbit Type</a:t>
            </a:r>
            <a:endParaRPr>
              <a:solidFill>
                <a:srgbClr val="0B49CB"/>
              </a:solidFill>
            </a:endParaRP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E2A387DF-1918-420A-BDDE-E3D2C09B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3143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3"/>
                </a:solidFill>
              </a:defRPr>
            </a:defPPr>
            <a:lvl1pPr>
              <a:defRPr sz="1875" b="0">
                <a:solidFill>
                  <a:srgbClr val="182B43"/>
                </a:solidFill>
              </a:defRPr>
            </a:lvl1pPr>
            <a:lvl2pPr>
              <a:defRPr sz="1875" b="0">
                <a:solidFill>
                  <a:srgbClr val="182B43"/>
                </a:solidFill>
              </a:defRPr>
            </a:lvl2pPr>
            <a:lvl3pPr>
              <a:defRPr sz="1875" b="0">
                <a:solidFill>
                  <a:srgbClr val="182B43"/>
                </a:solidFill>
              </a:defRPr>
            </a:lvl3pPr>
            <a:lvl4pPr>
              <a:defRPr sz="1875" b="0">
                <a:solidFill>
                  <a:srgbClr val="182B43"/>
                </a:solidFill>
              </a:defRPr>
            </a:lvl4pPr>
            <a:lvl5pPr>
              <a:defRPr sz="1875" b="0">
                <a:solidFill>
                  <a:srgbClr val="182B43"/>
                </a:solidFill>
              </a:defRPr>
            </a:lvl5pPr>
            <a:lvl6pPr>
              <a:defRPr sz="1875" b="0">
                <a:solidFill>
                  <a:srgbClr val="182B43"/>
                </a:solidFill>
              </a:defRPr>
            </a:lvl6pPr>
            <a:lvl7pPr>
              <a:defRPr sz="1875" b="0">
                <a:solidFill>
                  <a:srgbClr val="182B43"/>
                </a:solidFill>
              </a:defRPr>
            </a:lvl7pPr>
            <a:lvl8pPr>
              <a:defRPr sz="1875" b="0">
                <a:solidFill>
                  <a:srgbClr val="182B43"/>
                </a:solidFill>
              </a:defRPr>
            </a:lvl8pPr>
            <a:lvl9pPr>
              <a:defRPr sz="187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VLEO: 12/14 (85.7%).</a:t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GTO: 14/27 (51.9%).</a:t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SSO: 5/5 (100%).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Several perfect rates come from only one launch.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39B4E495-1715-4064-B5C3-99530744BBF5}"/>
              </a:ext>
            </a:extLst>
          </p:cNvPr>
          <p:cNvGraphicFramePr/>
          <p:nvPr/>
        </p:nvGraphicFramePr>
        <p:xfrm>
          <a:off xmlns:a="http://schemas.openxmlformats.org/drawingml/2006/main" x="4381500" y="1714500"/>
          <a:ext xmlns:a="http://schemas.openxmlformats.org/drawingml/2006/main" cx="6953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b98cf90f9a4bba"/>
          </a:graphicData>
        </a:graphic>
      </p:graphicFrame>
      <p:sp>
        <p:nvSpPr>
          <p:cNvPr id="8" name="content-4">
            <a:extLst xmlns:a="http://schemas.openxmlformats.org/drawingml/2006/main">
              <a:ext uri="{FF2B5EF4-FFF2-40B4-BE49-F238E27FC236}">
                <a16:creationId xmlns:a16="http://schemas.microsoft.com/office/drawing/2014/main" id="{70D9801B-A805-4986-B9F8-994C7794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Labels show orbit and n. GTO is a transfer orbit, retained here for a complete mission-type comparison.</a:t>
            </a:r>
          </a:p>
        </p:txBody>
      </p:sp>
    </p:spTree>
    <p:extLst>
      <p:ext uri="{BB962C8B-B14F-4D97-AF65-F5344CB8AC3E}">
        <p14:creationId xmlns:p14="http://schemas.microsoft.com/office/powerpoint/2010/main" val="80090182"/>
      </p:ext>
    </p:extLst>
  </p:cSld>
</p:sld>
</file>

<file path=ppt/slides/slide21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21</a:t>
            </a:fld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770011" y="2069756"/>
            <a:ext cx="3932238" cy="381158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Flight Number vs. Orbit Type</a:t>
            </a:r>
            <a:endParaRPr>
              <a:solidFill>
                <a:srgbClr val="0B49CB"/>
              </a:solidFill>
            </a:endParaRP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1A1AA108-EC7C-41B7-8925-9AC30B02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323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3"/>
                </a:solidFill>
              </a:defRPr>
            </a:defPPr>
            <a:lvl1pPr>
              <a:defRPr sz="1875" b="0">
                <a:solidFill>
                  <a:srgbClr val="182B43"/>
                </a:solidFill>
              </a:defRPr>
            </a:lvl1pPr>
            <a:lvl2pPr>
              <a:defRPr sz="1875" b="0">
                <a:solidFill>
                  <a:srgbClr val="182B43"/>
                </a:solidFill>
              </a:defRPr>
            </a:lvl2pPr>
            <a:lvl3pPr>
              <a:defRPr sz="1875" b="0">
                <a:solidFill>
                  <a:srgbClr val="182B43"/>
                </a:solidFill>
              </a:defRPr>
            </a:lvl3pPr>
            <a:lvl4pPr>
              <a:defRPr sz="1875" b="0">
                <a:solidFill>
                  <a:srgbClr val="182B43"/>
                </a:solidFill>
              </a:defRPr>
            </a:lvl4pPr>
            <a:lvl5pPr>
              <a:defRPr sz="1875" b="0">
                <a:solidFill>
                  <a:srgbClr val="182B43"/>
                </a:solidFill>
              </a:defRPr>
            </a:lvl5pPr>
            <a:lvl6pPr>
              <a:defRPr sz="1875" b="0">
                <a:solidFill>
                  <a:srgbClr val="182B43"/>
                </a:solidFill>
              </a:defRPr>
            </a:lvl6pPr>
            <a:lvl7pPr>
              <a:defRPr sz="1875" b="0">
                <a:solidFill>
                  <a:srgbClr val="182B43"/>
                </a:solidFill>
              </a:defRPr>
            </a:lvl7pPr>
            <a:lvl8pPr>
              <a:defRPr sz="1875" b="0">
                <a:solidFill>
                  <a:srgbClr val="182B43"/>
                </a:solidFill>
              </a:defRPr>
            </a:lvl8pPr>
            <a:lvl9pPr>
              <a:defRPr sz="187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LEO launches show more positive labels later in the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GTO includes both outcomes throughout the observed period.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Flight number also proxies technological progress.</a:t>
            </a:r>
          </a:p>
        </p:txBody>
      </p:sp>
      <p:sp>
        <p:nvSpPr>
          <p:cNvPr id="8" name="content-4">
            <a:extLst xmlns:a="http://schemas.openxmlformats.org/drawingml/2006/main">
              <a:ext uri="{FF2B5EF4-FFF2-40B4-BE49-F238E27FC236}">
                <a16:creationId xmlns:a16="http://schemas.microsoft.com/office/drawing/2014/main" id="{F74AB673-5C4C-4F01-B9AF-FEABA956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Launch sequence and calendar time overlap. A random split may overstate future performance.</a:t>
            </a:r>
          </a:p>
        </p:txBody>
      </p:sp>
    </p:spTree>
    <p:extLst>
      <p:ext uri="{BB962C8B-B14F-4D97-AF65-F5344CB8AC3E}">
        <p14:creationId xmlns:p14="http://schemas.microsoft.com/office/powerpoint/2010/main" val="1106727586"/>
      </p:ext>
    </p:extLst>
  </p:cSld>
</p:sld>
</file>

<file path=ppt/slides/slide22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22</a:t>
            </a:fld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770011" y="2057400"/>
            <a:ext cx="3932238" cy="381158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Payload vs. Orbit Type</a:t>
            </a:r>
            <a:endParaRPr>
              <a:solidFill>
                <a:srgbClr val="0B49CB"/>
              </a:solidFill>
            </a:endParaRP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2F048CA3-7D42-4A0B-8DE5-30506377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323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3"/>
                </a:solidFill>
              </a:defRPr>
            </a:defPPr>
            <a:lvl1pPr>
              <a:defRPr sz="1875" b="0">
                <a:solidFill>
                  <a:srgbClr val="182B43"/>
                </a:solidFill>
              </a:defRPr>
            </a:lvl1pPr>
            <a:lvl2pPr>
              <a:defRPr sz="1875" b="0">
                <a:solidFill>
                  <a:srgbClr val="182B43"/>
                </a:solidFill>
              </a:defRPr>
            </a:lvl2pPr>
            <a:lvl3pPr>
              <a:defRPr sz="1875" b="0">
                <a:solidFill>
                  <a:srgbClr val="182B43"/>
                </a:solidFill>
              </a:defRPr>
            </a:lvl3pPr>
            <a:lvl4pPr>
              <a:defRPr sz="1875" b="0">
                <a:solidFill>
                  <a:srgbClr val="182B43"/>
                </a:solidFill>
              </a:defRPr>
            </a:lvl4pPr>
            <a:lvl5pPr>
              <a:defRPr sz="1875" b="0">
                <a:solidFill>
                  <a:srgbClr val="182B43"/>
                </a:solidFill>
              </a:defRPr>
            </a:lvl5pPr>
            <a:lvl6pPr>
              <a:defRPr sz="1875" b="0">
                <a:solidFill>
                  <a:srgbClr val="182B43"/>
                </a:solidFill>
              </a:defRPr>
            </a:lvl6pPr>
            <a:lvl7pPr>
              <a:defRPr sz="1875" b="0">
                <a:solidFill>
                  <a:srgbClr val="182B43"/>
                </a:solidFill>
              </a:defRPr>
            </a:lvl7pPr>
            <a:lvl8pPr>
              <a:defRPr sz="1875" b="0">
                <a:solidFill>
                  <a:srgbClr val="182B43"/>
                </a:solidFill>
              </a:defRPr>
            </a:lvl8pPr>
            <a:lvl9pPr>
              <a:defRPr sz="187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Payload and orbit jointly describe the mission profile.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Successes and failures overlap in GTO.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A single payload threshold cannot separate all outcomes.</a:t>
            </a:r>
          </a:p>
        </p:txBody>
      </p:sp>
      <p:sp>
        <p:nvSpPr>
          <p:cNvPr id="8" name="content-4">
            <a:extLst xmlns:a="http://schemas.openxmlformats.org/drawingml/2006/main">
              <a:ext uri="{FF2B5EF4-FFF2-40B4-BE49-F238E27FC236}">
                <a16:creationId xmlns:a16="http://schemas.microsoft.com/office/drawing/2014/main" id="{5EFA605D-AA23-404C-B1DE-E7BD5DB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90 launches. Use the full feature context rather than treating payload as an independent causal driver.</a:t>
            </a:r>
          </a:p>
        </p:txBody>
      </p:sp>
    </p:spTree>
    <p:extLst>
      <p:ext uri="{BB962C8B-B14F-4D97-AF65-F5344CB8AC3E}">
        <p14:creationId xmlns:p14="http://schemas.microsoft.com/office/powerpoint/2010/main" val="3145340593"/>
      </p:ext>
    </p:extLst>
  </p:cSld>
</p:sld>
</file>

<file path=ppt/slides/slide23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23</a:t>
            </a:fld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770011" y="2069757"/>
            <a:ext cx="3932238" cy="381158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Launch Success Yearly Trend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CB333AE8-5620-484F-B68C-36447DC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304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3"/>
                </a:solidFill>
              </a:defRPr>
            </a:defPPr>
            <a:lvl1pPr>
              <a:defRPr sz="1875" b="0">
                <a:solidFill>
                  <a:srgbClr val="182B43"/>
                </a:solidFill>
              </a:defRPr>
            </a:lvl1pPr>
            <a:lvl2pPr>
              <a:defRPr sz="1875" b="0">
                <a:solidFill>
                  <a:srgbClr val="182B43"/>
                </a:solidFill>
              </a:defRPr>
            </a:lvl2pPr>
            <a:lvl3pPr>
              <a:defRPr sz="1875" b="0">
                <a:solidFill>
                  <a:srgbClr val="182B43"/>
                </a:solidFill>
              </a:defRPr>
            </a:lvl3pPr>
            <a:lvl4pPr>
              <a:defRPr sz="1875" b="0">
                <a:solidFill>
                  <a:srgbClr val="182B43"/>
                </a:solidFill>
              </a:defRPr>
            </a:lvl4pPr>
            <a:lvl5pPr>
              <a:defRPr sz="1875" b="0">
                <a:solidFill>
                  <a:srgbClr val="182B43"/>
                </a:solidFill>
              </a:defRPr>
            </a:lvl5pPr>
            <a:lvl6pPr>
              <a:defRPr sz="1875" b="0">
                <a:solidFill>
                  <a:srgbClr val="182B43"/>
                </a:solidFill>
              </a:defRPr>
            </a:lvl6pPr>
            <a:lvl7pPr>
              <a:defRPr sz="1875" b="0">
                <a:solidFill>
                  <a:srgbClr val="182B43"/>
                </a:solidFill>
              </a:defRPr>
            </a:lvl7pPr>
            <a:lvl8pPr>
              <a:defRPr sz="1875" b="0">
                <a:solidFill>
                  <a:srgbClr val="182B43"/>
                </a:solidFill>
              </a:defRPr>
            </a:lvl8pPr>
            <a:lvl9pPr>
              <a:defRPr sz="187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2014 and 2015: 33.3%.</a:t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2017: 83.3%.</a:t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2018: 61.1%.</a:t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2020: 84.2%.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Improvement is uneven.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A873F2D7-2471-42E7-B32F-A22211FA03F2}"/>
              </a:ext>
            </a:extLst>
          </p:cNvPr>
          <p:cNvGraphicFramePr/>
          <p:nvPr/>
        </p:nvGraphicFramePr>
        <p:xfrm>
          <a:off xmlns:a="http://schemas.openxmlformats.org/drawingml/2006/main" x="4381500" y="1714500"/>
          <a:ext xmlns:a="http://schemas.openxmlformats.org/drawingml/2006/main" cx="6953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af6465909b4dff"/>
          </a:graphicData>
        </a:graphic>
      </p:graphicFrame>
      <p:sp>
        <p:nvSpPr>
          <p:cNvPr id="8" name="content-4">
            <a:extLst xmlns:a="http://schemas.openxmlformats.org/drawingml/2006/main">
              <a:ext uri="{FF2B5EF4-FFF2-40B4-BE49-F238E27FC236}">
                <a16:creationId xmlns:a16="http://schemas.microsoft.com/office/drawing/2014/main" id="{6D1BA454-1163-4319-92B6-2BAED831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Annual counts range from 1 to 19. No observation for 2011 in the modeling dataset.</a:t>
            </a:r>
          </a:p>
        </p:txBody>
      </p:sp>
    </p:spTree>
    <p:extLst>
      <p:ext uri="{BB962C8B-B14F-4D97-AF65-F5344CB8AC3E}">
        <p14:creationId xmlns:p14="http://schemas.microsoft.com/office/powerpoint/2010/main" val="706594483"/>
      </p:ext>
    </p:extLst>
  </p:cSld>
</p:sld>
</file>

<file path=ppt/slides/slide24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24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All Launch Site Names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C9AD3-6DDA-4AEE-BA41-F8C456EDB693}"/>
              </a:ext>
            </a:extLst>
          </p:cNvPr>
          <p:cNvGraphicFramePr/>
          <p:nvPr/>
        </p:nvGraphicFramePr>
        <p:xfrm>
          <a:off xmlns:a="http://schemas.openxmlformats.org/drawingml/2006/main" x="876300" y="1714500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</a:tblGrid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Distinct Launch_Site values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CCAFS LC-40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VAFB SLC-4E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KSC LC-39A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CCAFS SLC-40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</a:tbl>
          </a:graphicData>
        </a:graphic>
      </p:graphicFrame>
      <p:sp>
        <p:nvSpPr>
          <p:cNvPr id="7" name="content-3">
            <a:extLst xmlns:a="http://schemas.openxmlformats.org/drawingml/2006/main">
              <a:ext uri="{FF2B5EF4-FFF2-40B4-BE49-F238E27FC236}">
                <a16:creationId xmlns:a16="http://schemas.microsoft.com/office/drawing/2014/main" id="{8A73911D-C3EC-49D2-B668-C484AFC3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23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3"/>
                </a:solidFill>
              </a:defRPr>
            </a:defPPr>
            <a:lvl1pPr>
              <a:defRPr sz="1875" b="0">
                <a:solidFill>
                  <a:srgbClr val="182B43"/>
                </a:solidFill>
              </a:defRPr>
            </a:lvl1pPr>
            <a:lvl2pPr>
              <a:defRPr sz="1875" b="0">
                <a:solidFill>
                  <a:srgbClr val="182B43"/>
                </a:solidFill>
              </a:defRPr>
            </a:lvl2pPr>
            <a:lvl3pPr>
              <a:defRPr sz="1875" b="0">
                <a:solidFill>
                  <a:srgbClr val="182B43"/>
                </a:solidFill>
              </a:defRPr>
            </a:lvl3pPr>
            <a:lvl4pPr>
              <a:defRPr sz="1875" b="0">
                <a:solidFill>
                  <a:srgbClr val="182B43"/>
                </a:solidFill>
              </a:defRPr>
            </a:lvl4pPr>
            <a:lvl5pPr>
              <a:defRPr sz="1875" b="0">
                <a:solidFill>
                  <a:srgbClr val="182B43"/>
                </a:solidFill>
              </a:defRPr>
            </a:lvl5pPr>
            <a:lvl6pPr>
              <a:defRPr sz="1875" b="0">
                <a:solidFill>
                  <a:srgbClr val="182B43"/>
                </a:solidFill>
              </a:defRPr>
            </a:lvl6pPr>
            <a:lvl7pPr>
              <a:defRPr sz="1875" b="0">
                <a:solidFill>
                  <a:srgbClr val="182B43"/>
                </a:solidFill>
              </a:defRPr>
            </a:lvl7pPr>
            <a:lvl8pPr>
              <a:defRPr sz="1875" b="0">
                <a:solidFill>
                  <a:srgbClr val="182B43"/>
                </a:solidFill>
              </a:defRPr>
            </a:lvl8pPr>
            <a:lvl9pPr>
              <a:defRPr sz="187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Four labels in the SQL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The 90-row dataset groups launches into three site labels.</a:t>
            </a:r>
          </a:p>
        </p:txBody>
      </p:sp>
      <p:sp>
        <p:nvSpPr>
          <p:cNvPr id="8" name="content-4">
            <a:extLst xmlns:a="http://schemas.openxmlformats.org/drawingml/2006/main">
              <a:ext uri="{FF2B5EF4-FFF2-40B4-BE49-F238E27FC236}">
                <a16:creationId xmlns:a16="http://schemas.microsoft.com/office/drawing/2014/main" id="{4FF6F398-F092-42C7-AD6B-E8EDB191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SELECT DISTINCT Launch_Site FROM SPACEXTABLE;</a:t>
            </a:r>
          </a:p>
        </p:txBody>
      </p:sp>
    </p:spTree>
    <p:extLst>
      <p:ext uri="{BB962C8B-B14F-4D97-AF65-F5344CB8AC3E}">
        <p14:creationId xmlns:p14="http://schemas.microsoft.com/office/powerpoint/2010/main" val="2727850971"/>
      </p:ext>
    </p:extLst>
  </p:cSld>
</p:sld>
</file>

<file path=ppt/slides/slide25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25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Launch Sites Beginning with 'CCA'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DAE90-FD63-4319-8AE4-911D0A814FCF}"/>
              </a:ext>
            </a:extLst>
          </p:cNvPr>
          <p:cNvGraphicFramePr/>
          <p:nvPr/>
        </p:nvGraphicFramePr>
        <p:xfrm>
          <a:off xmlns:a="http://schemas.openxmlformats.org/drawingml/2006/main" x="876300" y="1714500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333750"/>
                <a:gridCol w="2857500"/>
                <a:gridCol w="2476500"/>
              </a:tblGrid>
              <a:tr h="555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Booster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Site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Payload kg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2010-06-04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F9 v1.0  B0003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CCAFS LC-40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2010-12-08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F9 v1.0  B0004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CCAFS LC-40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2012-05-22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F9 v1.0  B0005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CCAFS LC-40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525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2012-10-08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F9 v1.0  B0006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CCAFS LC-40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2013-03-01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F9 v1.0  B0007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CCAFS LC-40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677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content-3">
            <a:extLst xmlns:a="http://schemas.openxmlformats.org/drawingml/2006/main">
              <a:ext uri="{FF2B5EF4-FFF2-40B4-BE49-F238E27FC236}">
                <a16:creationId xmlns:a16="http://schemas.microsoft.com/office/drawing/2014/main" id="{41E98F5D-8C4C-43C0-B213-0FE722A0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WHERE Launch_Site LIKE 'CCA%' ORDER BY Date LIMIT 5. Dates ensure reproducible record selection.</a:t>
            </a:r>
          </a:p>
        </p:txBody>
      </p:sp>
    </p:spTree>
    <p:extLst>
      <p:ext uri="{BB962C8B-B14F-4D97-AF65-F5344CB8AC3E}">
        <p14:creationId xmlns:p14="http://schemas.microsoft.com/office/powerpoint/2010/main" val="1794738657"/>
      </p:ext>
    </p:extLst>
  </p:cSld>
</p:sld>
</file>

<file path=ppt/slides/slide26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26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Total Payload Mass: NASA CRS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DB44FD0E-8351-4D33-9A91-A8120BDC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1">
                <a:solidFill>
                  <a:srgbClr val="0753D6"/>
                </a:solidFill>
              </a:defRPr>
            </a:defPPr>
            <a:lvl1pPr>
              <a:defRPr sz="5250" b="1">
                <a:solidFill>
                  <a:srgbClr val="0753D6"/>
                </a:solidFill>
              </a:defRPr>
            </a:lvl1pPr>
            <a:lvl2pPr>
              <a:defRPr sz="5250" b="1">
                <a:solidFill>
                  <a:srgbClr val="0753D6"/>
                </a:solidFill>
              </a:defRPr>
            </a:lvl2pPr>
            <a:lvl3pPr>
              <a:defRPr sz="5250" b="1">
                <a:solidFill>
                  <a:srgbClr val="0753D6"/>
                </a:solidFill>
              </a:defRPr>
            </a:lvl3pPr>
            <a:lvl4pPr>
              <a:defRPr sz="5250" b="1">
                <a:solidFill>
                  <a:srgbClr val="0753D6"/>
                </a:solidFill>
              </a:defRPr>
            </a:lvl4pPr>
            <a:lvl5pPr>
              <a:defRPr sz="5250" b="1">
                <a:solidFill>
                  <a:srgbClr val="0753D6"/>
                </a:solidFill>
              </a:defRPr>
            </a:lvl5pPr>
            <a:lvl6pPr>
              <a:defRPr sz="5250" b="1">
                <a:solidFill>
                  <a:srgbClr val="0753D6"/>
                </a:solidFill>
              </a:defRPr>
            </a:lvl6pPr>
            <a:lvl7pPr>
              <a:defRPr sz="5250" b="1">
                <a:solidFill>
                  <a:srgbClr val="0753D6"/>
                </a:solidFill>
              </a:defRPr>
            </a:lvl7pPr>
            <a:lvl8pPr>
              <a:defRPr sz="5250" b="1">
                <a:solidFill>
                  <a:srgbClr val="0753D6"/>
                </a:solidFill>
              </a:defRPr>
            </a:lvl8pPr>
            <a:lvl9pPr>
              <a:defRPr sz="5250" b="1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0753D6"/>
                </a:solidFill>
              </a:defRPr>
            </a:pPr>
            <a:r>
              <a:rPr sz="5250" b="1">
                <a:solidFill>
                  <a:srgbClr val="0753D6"/>
                </a:solidFill>
              </a:rPr>
              <a:t>45,596 kg</a:t>
            </a:r>
          </a:p>
        </p:txBody>
      </p:sp>
      <p:sp>
        <p:nvSpPr>
          <p:cNvPr id="7" name="content-4">
            <a:extLst xmlns:a="http://schemas.openxmlformats.org/drawingml/2006/main">
              <a:ext uri="{FF2B5EF4-FFF2-40B4-BE49-F238E27FC236}">
                <a16:creationId xmlns:a16="http://schemas.microsoft.com/office/drawing/2014/main" id="{EF5D7CE7-575B-4A85-B968-64A46BD6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990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2B43"/>
                </a:solidFill>
              </a:defRPr>
            </a:defPPr>
            <a:lvl1pPr>
              <a:defRPr sz="2250" b="0">
                <a:solidFill>
                  <a:srgbClr val="182B43"/>
                </a:solidFill>
              </a:defRPr>
            </a:lvl1pPr>
            <a:lvl2pPr>
              <a:defRPr sz="2250" b="0">
                <a:solidFill>
                  <a:srgbClr val="182B43"/>
                </a:solidFill>
              </a:defRPr>
            </a:lvl2pPr>
            <a:lvl3pPr>
              <a:defRPr sz="2250" b="0">
                <a:solidFill>
                  <a:srgbClr val="182B43"/>
                </a:solidFill>
              </a:defRPr>
            </a:lvl3pPr>
            <a:lvl4pPr>
              <a:defRPr sz="2250" b="0">
                <a:solidFill>
                  <a:srgbClr val="182B43"/>
                </a:solidFill>
              </a:defRPr>
            </a:lvl4pPr>
            <a:lvl5pPr>
              <a:defRPr sz="2250" b="0">
                <a:solidFill>
                  <a:srgbClr val="182B43"/>
                </a:solidFill>
              </a:defRPr>
            </a:lvl5pPr>
            <a:lvl6pPr>
              <a:defRPr sz="2250" b="0">
                <a:solidFill>
                  <a:srgbClr val="182B43"/>
                </a:solidFill>
              </a:defRPr>
            </a:lvl6pPr>
            <a:lvl7pPr>
              <a:defRPr sz="2250" b="0">
                <a:solidFill>
                  <a:srgbClr val="182B43"/>
                </a:solidFill>
              </a:defRPr>
            </a:lvl7pPr>
            <a:lvl8pPr>
              <a:defRPr sz="2250" b="0">
                <a:solidFill>
                  <a:srgbClr val="182B43"/>
                </a:solidFill>
              </a:defRPr>
            </a:lvl8pPr>
            <a:lvl9pPr>
              <a:defRPr sz="2250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2B43"/>
                </a:solidFill>
              </a:defRPr>
            </a:pPr>
            <a:r>
              <a:rPr sz="2250" b="0">
                <a:solidFill>
                  <a:srgbClr val="182B43"/>
                </a:solidFill>
              </a:rPr>
              <a:t>Total payload for Customer = 'NASA (CRS)'.</a:t>
            </a:r>
          </a:p>
          <a:p xmlns:a="http://schemas.openxmlformats.org/drawingml/2006/main">
            <a:pPr>
              <a:defRPr sz="2250" b="0">
                <a:solidFill>
                  <a:srgbClr val="182B43"/>
                </a:solidFill>
              </a:defRPr>
            </a:pPr>
            <a:r>
              <a:rPr sz="2250" b="0">
                <a:solidFill>
                  <a:srgbClr val="182B43"/>
                </a:solidFill>
              </a:rPr>
              <a:t>This is a customer-filtered sum in the SQL teaching dataset.</a:t>
            </a:r>
          </a:p>
        </p:txBody>
      </p:sp>
      <p:sp>
        <p:nvSpPr>
          <p:cNvPr id="8" name="content-5">
            <a:extLst xmlns:a="http://schemas.openxmlformats.org/drawingml/2006/main">
              <a:ext uri="{FF2B5EF4-FFF2-40B4-BE49-F238E27FC236}">
                <a16:creationId xmlns:a16="http://schemas.microsoft.com/office/drawing/2014/main" id="{AD73B6A5-1DA6-4E8E-9490-518B2EC6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SELECT SUM(PAYLOAD_MASS__KG_) ... WHERE TRIM(Customer) = 'NASA (CRS)';</a:t>
            </a:r>
          </a:p>
        </p:txBody>
      </p:sp>
    </p:spTree>
    <p:extLst>
      <p:ext uri="{BB962C8B-B14F-4D97-AF65-F5344CB8AC3E}">
        <p14:creationId xmlns:p14="http://schemas.microsoft.com/office/powerpoint/2010/main" val="4010014743"/>
      </p:ext>
    </p:extLst>
  </p:cSld>
</p:sld>
</file>

<file path=ppt/slides/slide27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27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Average Payload Mass: F9 v1.1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7E24D5D3-5A63-4D24-949C-9886CD91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1">
                <a:solidFill>
                  <a:srgbClr val="0753D6"/>
                </a:solidFill>
              </a:defRPr>
            </a:defPPr>
            <a:lvl1pPr>
              <a:defRPr sz="5250" b="1">
                <a:solidFill>
                  <a:srgbClr val="0753D6"/>
                </a:solidFill>
              </a:defRPr>
            </a:lvl1pPr>
            <a:lvl2pPr>
              <a:defRPr sz="5250" b="1">
                <a:solidFill>
                  <a:srgbClr val="0753D6"/>
                </a:solidFill>
              </a:defRPr>
            </a:lvl2pPr>
            <a:lvl3pPr>
              <a:defRPr sz="5250" b="1">
                <a:solidFill>
                  <a:srgbClr val="0753D6"/>
                </a:solidFill>
              </a:defRPr>
            </a:lvl3pPr>
            <a:lvl4pPr>
              <a:defRPr sz="5250" b="1">
                <a:solidFill>
                  <a:srgbClr val="0753D6"/>
                </a:solidFill>
              </a:defRPr>
            </a:lvl4pPr>
            <a:lvl5pPr>
              <a:defRPr sz="5250" b="1">
                <a:solidFill>
                  <a:srgbClr val="0753D6"/>
                </a:solidFill>
              </a:defRPr>
            </a:lvl5pPr>
            <a:lvl6pPr>
              <a:defRPr sz="5250" b="1">
                <a:solidFill>
                  <a:srgbClr val="0753D6"/>
                </a:solidFill>
              </a:defRPr>
            </a:lvl6pPr>
            <a:lvl7pPr>
              <a:defRPr sz="5250" b="1">
                <a:solidFill>
                  <a:srgbClr val="0753D6"/>
                </a:solidFill>
              </a:defRPr>
            </a:lvl7pPr>
            <a:lvl8pPr>
              <a:defRPr sz="5250" b="1">
                <a:solidFill>
                  <a:srgbClr val="0753D6"/>
                </a:solidFill>
              </a:defRPr>
            </a:lvl8pPr>
            <a:lvl9pPr>
              <a:defRPr sz="5250" b="1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0753D6"/>
                </a:solidFill>
              </a:defRPr>
            </a:pPr>
            <a:r>
              <a:rPr sz="5250" b="1">
                <a:solidFill>
                  <a:srgbClr val="0753D6"/>
                </a:solidFill>
              </a:rPr>
              <a:t>2,928.4 kg</a:t>
            </a:r>
          </a:p>
        </p:txBody>
      </p:sp>
      <p:sp>
        <p:nvSpPr>
          <p:cNvPr id="7" name="content-4">
            <a:extLst xmlns:a="http://schemas.openxmlformats.org/drawingml/2006/main">
              <a:ext uri="{FF2B5EF4-FFF2-40B4-BE49-F238E27FC236}">
                <a16:creationId xmlns:a16="http://schemas.microsoft.com/office/drawing/2014/main" id="{97393CF3-4CEA-4733-B90B-86D13939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B43"/>
                </a:solidFill>
              </a:defRPr>
            </a:defPPr>
            <a:lvl1pPr>
              <a:defRPr sz="2175" b="0">
                <a:solidFill>
                  <a:srgbClr val="182B43"/>
                </a:solidFill>
              </a:defRPr>
            </a:lvl1pPr>
            <a:lvl2pPr>
              <a:defRPr sz="2175" b="0">
                <a:solidFill>
                  <a:srgbClr val="182B43"/>
                </a:solidFill>
              </a:defRPr>
            </a:lvl2pPr>
            <a:lvl3pPr>
              <a:defRPr sz="2175" b="0">
                <a:solidFill>
                  <a:srgbClr val="182B43"/>
                </a:solidFill>
              </a:defRPr>
            </a:lvl3pPr>
            <a:lvl4pPr>
              <a:defRPr sz="2175" b="0">
                <a:solidFill>
                  <a:srgbClr val="182B43"/>
                </a:solidFill>
              </a:defRPr>
            </a:lvl4pPr>
            <a:lvl5pPr>
              <a:defRPr sz="2175" b="0">
                <a:solidFill>
                  <a:srgbClr val="182B43"/>
                </a:solidFill>
              </a:defRPr>
            </a:lvl5pPr>
            <a:lvl6pPr>
              <a:defRPr sz="2175" b="0">
                <a:solidFill>
                  <a:srgbClr val="182B43"/>
                </a:solidFill>
              </a:defRPr>
            </a:lvl6pPr>
            <a:lvl7pPr>
              <a:defRPr sz="2175" b="0">
                <a:solidFill>
                  <a:srgbClr val="182B43"/>
                </a:solidFill>
              </a:defRPr>
            </a:lvl7pPr>
            <a:lvl8pPr>
              <a:defRPr sz="2175" b="0">
                <a:solidFill>
                  <a:srgbClr val="182B43"/>
                </a:solidFill>
              </a:defRPr>
            </a:lvl8pPr>
            <a:lvl9pPr>
              <a:defRPr sz="217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2B43"/>
                </a:solidFill>
              </a:defRPr>
            </a:pPr>
            <a:r>
              <a:rPr sz="2175" b="0">
                <a:solidFill>
                  <a:srgbClr val="182B43"/>
                </a:solidFill>
              </a:rPr>
              <a:t>Average payload for the exact Booster_Version value 'F9 v1.1'.</a:t>
            </a:r>
          </a:p>
          <a:p xmlns:a="http://schemas.openxmlformats.org/drawingml/2006/main">
            <a:pPr>
              <a:defRPr sz="2175" b="0">
                <a:solidFill>
                  <a:srgbClr val="182B43"/>
                </a:solidFill>
              </a:defRPr>
            </a:pPr>
            <a:r>
              <a:rPr sz="2175" b="0">
                <a:solidFill>
                  <a:srgbClr val="182B43"/>
                </a:solidFill>
              </a:rPr>
              <a:t>The query does not include every string beginning with that version label.</a:t>
            </a:r>
          </a:p>
        </p:txBody>
      </p:sp>
      <p:sp>
        <p:nvSpPr>
          <p:cNvPr id="8" name="content-5">
            <a:extLst xmlns:a="http://schemas.openxmlformats.org/drawingml/2006/main">
              <a:ext uri="{FF2B5EF4-FFF2-40B4-BE49-F238E27FC236}">
                <a16:creationId xmlns:a16="http://schemas.microsoft.com/office/drawing/2014/main" id="{779221A8-661F-4F80-8BE2-62B6DD0B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Exact match filter retained from the lab. A LIKE 'F9 v1.1%' query defines a different population.</a:t>
            </a:r>
          </a:p>
        </p:txBody>
      </p:sp>
    </p:spTree>
    <p:extLst>
      <p:ext uri="{BB962C8B-B14F-4D97-AF65-F5344CB8AC3E}">
        <p14:creationId xmlns:p14="http://schemas.microsoft.com/office/powerpoint/2010/main" val="2735560525"/>
      </p:ext>
    </p:extLst>
  </p:cSld>
</p:sld>
</file>

<file path=ppt/slides/slide28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28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  <a:endParaRPr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First Successful Ground Landing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505C3B94-853D-4B12-A0D0-F9D534E6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0753D6"/>
                </a:solidFill>
              </a:defRPr>
            </a:defPPr>
            <a:lvl1pPr>
              <a:defRPr sz="4650" b="1">
                <a:solidFill>
                  <a:srgbClr val="0753D6"/>
                </a:solidFill>
              </a:defRPr>
            </a:lvl1pPr>
            <a:lvl2pPr>
              <a:defRPr sz="4650" b="1">
                <a:solidFill>
                  <a:srgbClr val="0753D6"/>
                </a:solidFill>
              </a:defRPr>
            </a:lvl2pPr>
            <a:lvl3pPr>
              <a:defRPr sz="4650" b="1">
                <a:solidFill>
                  <a:srgbClr val="0753D6"/>
                </a:solidFill>
              </a:defRPr>
            </a:lvl3pPr>
            <a:lvl4pPr>
              <a:defRPr sz="4650" b="1">
                <a:solidFill>
                  <a:srgbClr val="0753D6"/>
                </a:solidFill>
              </a:defRPr>
            </a:lvl4pPr>
            <a:lvl5pPr>
              <a:defRPr sz="4650" b="1">
                <a:solidFill>
                  <a:srgbClr val="0753D6"/>
                </a:solidFill>
              </a:defRPr>
            </a:lvl5pPr>
            <a:lvl6pPr>
              <a:defRPr sz="4650" b="1">
                <a:solidFill>
                  <a:srgbClr val="0753D6"/>
                </a:solidFill>
              </a:defRPr>
            </a:lvl6pPr>
            <a:lvl7pPr>
              <a:defRPr sz="4650" b="1">
                <a:solidFill>
                  <a:srgbClr val="0753D6"/>
                </a:solidFill>
              </a:defRPr>
            </a:lvl7pPr>
            <a:lvl8pPr>
              <a:defRPr sz="4650" b="1">
                <a:solidFill>
                  <a:srgbClr val="0753D6"/>
                </a:solidFill>
              </a:defRPr>
            </a:lvl8pPr>
            <a:lvl9pPr>
              <a:defRPr sz="4650" b="1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0753D6"/>
                </a:solidFill>
              </a:defRPr>
            </a:pPr>
            <a:r>
              <a:rPr sz="4650" b="1">
                <a:solidFill>
                  <a:srgbClr val="0753D6"/>
                </a:solidFill>
              </a:rPr>
              <a:t>22 December 2015</a:t>
            </a:r>
          </a:p>
        </p:txBody>
      </p:sp>
      <p:sp>
        <p:nvSpPr>
          <p:cNvPr id="7" name="content-4">
            <a:extLst xmlns:a="http://schemas.openxmlformats.org/drawingml/2006/main">
              <a:ext uri="{FF2B5EF4-FFF2-40B4-BE49-F238E27FC236}">
                <a16:creationId xmlns:a16="http://schemas.microsoft.com/office/drawing/2014/main" id="{1CB05829-DBDF-4768-A7D9-306C89AC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2B43"/>
                </a:solidFill>
              </a:defRPr>
            </a:defPPr>
            <a:lvl1pPr>
              <a:defRPr sz="2250" b="0">
                <a:solidFill>
                  <a:srgbClr val="182B43"/>
                </a:solidFill>
              </a:defRPr>
            </a:lvl1pPr>
            <a:lvl2pPr>
              <a:defRPr sz="2250" b="0">
                <a:solidFill>
                  <a:srgbClr val="182B43"/>
                </a:solidFill>
              </a:defRPr>
            </a:lvl2pPr>
            <a:lvl3pPr>
              <a:defRPr sz="2250" b="0">
                <a:solidFill>
                  <a:srgbClr val="182B43"/>
                </a:solidFill>
              </a:defRPr>
            </a:lvl3pPr>
            <a:lvl4pPr>
              <a:defRPr sz="2250" b="0">
                <a:solidFill>
                  <a:srgbClr val="182B43"/>
                </a:solidFill>
              </a:defRPr>
            </a:lvl4pPr>
            <a:lvl5pPr>
              <a:defRPr sz="2250" b="0">
                <a:solidFill>
                  <a:srgbClr val="182B43"/>
                </a:solidFill>
              </a:defRPr>
            </a:lvl5pPr>
            <a:lvl6pPr>
              <a:defRPr sz="2250" b="0">
                <a:solidFill>
                  <a:srgbClr val="182B43"/>
                </a:solidFill>
              </a:defRPr>
            </a:lvl6pPr>
            <a:lvl7pPr>
              <a:defRPr sz="2250" b="0">
                <a:solidFill>
                  <a:srgbClr val="182B43"/>
                </a:solidFill>
              </a:defRPr>
            </a:lvl7pPr>
            <a:lvl8pPr>
              <a:defRPr sz="2250" b="0">
                <a:solidFill>
                  <a:srgbClr val="182B43"/>
                </a:solidFill>
              </a:defRPr>
            </a:lvl8pPr>
            <a:lvl9pPr>
              <a:defRPr sz="2250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2B43"/>
                </a:solidFill>
              </a:defRPr>
            </a:pPr>
            <a:r>
              <a:rPr sz="2250" b="0">
                <a:solidFill>
                  <a:srgbClr val="182B43"/>
                </a:solidFill>
              </a:rPr>
              <a:t>MIN(Date) among records whose Landing_Outcome is</a:t>
            </a:r>
          </a:p>
          <a:p xmlns:a="http://schemas.openxmlformats.org/drawingml/2006/main">
            <a:pPr>
              <a:defRPr sz="2250" b="0">
                <a:solidFill>
                  <a:srgbClr val="182B43"/>
                </a:solidFill>
              </a:defRPr>
            </a:pPr>
            <a:r>
              <a:rPr sz="2250" b="0">
                <a:solidFill>
                  <a:srgbClr val="182B43"/>
                </a:solidFill>
              </a:rPr>
              <a:t>Success (ground pad).</a:t>
            </a:r>
          </a:p>
        </p:txBody>
      </p:sp>
      <p:sp>
        <p:nvSpPr>
          <p:cNvPr id="8" name="content-5">
            <a:extLst xmlns:a="http://schemas.openxmlformats.org/drawingml/2006/main">
              <a:ext uri="{FF2B5EF4-FFF2-40B4-BE49-F238E27FC236}">
                <a16:creationId xmlns:a16="http://schemas.microsoft.com/office/drawing/2014/main" id="{C1410DBA-2C87-4E35-A5B9-99544EF1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ISO dates allow chronological MIN(Date) in SQLite. Landing outcome differs from mission outcome.</a:t>
            </a:r>
          </a:p>
        </p:txBody>
      </p:sp>
    </p:spTree>
    <p:extLst>
      <p:ext uri="{BB962C8B-B14F-4D97-AF65-F5344CB8AC3E}">
        <p14:creationId xmlns:p14="http://schemas.microsoft.com/office/powerpoint/2010/main" val="1434679925"/>
      </p:ext>
    </p:extLst>
  </p:cSld>
</p:sld>
</file>

<file path=ppt/slides/slide29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29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  <a:endParaRPr sz="2200">
              <a:solidFill>
                <a:schemeClr val="accent3">
                  <a:lumMod val="25000"/>
                </a:schemeClr>
              </a:solidFill>
              <a:latin typeface="Abadi"/>
              <a:ea typeface="Abadi"/>
              <a:cs typeface="Abadi"/>
            </a:endParaRP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Successful Drone Landings: 4,000–6,000 kg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9A493-6A30-450A-AA68-CB792799E9FE}"/>
              </a:ext>
            </a:extLst>
          </p:cNvPr>
          <p:cNvGraphicFramePr/>
          <p:nvPr/>
        </p:nvGraphicFramePr>
        <p:xfrm>
          <a:off xmlns:a="http://schemas.openxmlformats.org/drawingml/2006/main" x="876300" y="1762125"/>
          <a:ext xmlns:a="http://schemas.openxmlformats.org/drawingml/2006/main" cx="7620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0"/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Matching booster versions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F9 FT B1022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F9 FT B1026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F9 FT  B1021.2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F9 FT  B1031.2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</a:tbl>
          </a:graphicData>
        </a:graphic>
      </p:graphicFrame>
      <p:sp>
        <p:nvSpPr>
          <p:cNvPr id="10" name="content-3">
            <a:extLst xmlns:a="http://schemas.openxmlformats.org/drawingml/2006/main">
              <a:ext uri="{FF2B5EF4-FFF2-40B4-BE49-F238E27FC236}">
                <a16:creationId xmlns:a16="http://schemas.microsoft.com/office/drawing/2014/main" id="{FD99EA18-B641-42FC-AC24-A566D999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Strict conditions: payload &gt; 4,000 AND payload &lt; 6,000. Landing_Outcome = Success (drone ship).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</p:sld>
</file>

<file path=ppt/slides/slide30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30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Mission Outcome Counts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3FB08-9ACD-407A-88ED-AFA34B3B1CD4}"/>
              </a:ext>
            </a:extLst>
          </p:cNvPr>
          <p:cNvGraphicFramePr/>
          <p:nvPr/>
        </p:nvGraphicFramePr>
        <p:xfrm>
          <a:off xmlns:a="http://schemas.openxmlformats.org/drawingml/2006/main" x="876300" y="1809750"/>
          <a:ext xmlns:a="http://schemas.openxmlformats.org/drawingml/2006/main" cx="66675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333750"/>
              </a:tblGrid>
              <a:tr h="6905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Mission result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Success (normalized)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Failure (in flight)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Total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101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content-3">
            <a:extLst xmlns:a="http://schemas.openxmlformats.org/drawingml/2006/main">
              <a:ext uri="{FF2B5EF4-FFF2-40B4-BE49-F238E27FC236}">
                <a16:creationId xmlns:a16="http://schemas.microsoft.com/office/drawing/2014/main" id="{6C9A8730-0DFF-400E-A8A0-9033AB9D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23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3"/>
                </a:solidFill>
              </a:defRPr>
            </a:defPPr>
            <a:lvl1pPr>
              <a:defRPr sz="1950" b="0">
                <a:solidFill>
                  <a:srgbClr val="182B43"/>
                </a:solidFill>
              </a:defRPr>
            </a:lvl1pPr>
            <a:lvl2pPr>
              <a:defRPr sz="1950" b="0">
                <a:solidFill>
                  <a:srgbClr val="182B43"/>
                </a:solidFill>
              </a:defRPr>
            </a:lvl2pPr>
            <a:lvl3pPr>
              <a:defRPr sz="1950" b="0">
                <a:solidFill>
                  <a:srgbClr val="182B43"/>
                </a:solidFill>
              </a:defRPr>
            </a:lvl3pPr>
            <a:lvl4pPr>
              <a:defRPr sz="1950" b="0">
                <a:solidFill>
                  <a:srgbClr val="182B43"/>
                </a:solidFill>
              </a:defRPr>
            </a:lvl4pPr>
            <a:lvl5pPr>
              <a:defRPr sz="1950" b="0">
                <a:solidFill>
                  <a:srgbClr val="182B43"/>
                </a:solidFill>
              </a:defRPr>
            </a:lvl5pPr>
            <a:lvl6pPr>
              <a:defRPr sz="1950" b="0">
                <a:solidFill>
                  <a:srgbClr val="182B43"/>
                </a:solidFill>
              </a:defRPr>
            </a:lvl6pPr>
            <a:lvl7pPr>
              <a:defRPr sz="1950" b="0">
                <a:solidFill>
                  <a:srgbClr val="182B43"/>
                </a:solidFill>
              </a:defRPr>
            </a:lvl7pPr>
            <a:lvl8pPr>
              <a:defRPr sz="1950" b="0">
                <a:solidFill>
                  <a:srgbClr val="182B43"/>
                </a:solidFill>
              </a:defRPr>
            </a:lvl8pPr>
            <a:lvl9pPr>
              <a:defRPr sz="1950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B43"/>
                </a:solidFill>
              </a:defRPr>
            </a:pPr>
            <a:r>
              <a:rPr sz="1950" b="0">
                <a:solidFill>
                  <a:srgbClr val="182B43"/>
                </a:solidFill>
              </a:rPr>
              <a:t>Normalize whitespace and group Success-prefixed variants.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2B43"/>
                </a:solidFill>
              </a:defRPr>
            </a:pPr>
            <a:r>
              <a:rPr sz="1950" b="0">
                <a:solidFill>
                  <a:srgbClr val="182B43"/>
                </a:solidFill>
              </a:rPr>
              <a:t>Mission success does not imply first-stage landing success.</a:t>
            </a:r>
          </a:p>
        </p:txBody>
      </p:sp>
      <p:sp>
        <p:nvSpPr>
          <p:cNvPr id="8" name="content-4">
            <a:extLst xmlns:a="http://schemas.openxmlformats.org/drawingml/2006/main">
              <a:ext uri="{FF2B5EF4-FFF2-40B4-BE49-F238E27FC236}">
                <a16:creationId xmlns:a16="http://schemas.microsoft.com/office/drawing/2014/main" id="{2F2BDA22-DFBC-47BD-9178-7AA18A46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Normalized CASE expression groups Success (payload status unclear) with Success.</a:t>
            </a:r>
          </a:p>
        </p:txBody>
      </p:sp>
    </p:spTree>
    <p:extLst>
      <p:ext uri="{BB962C8B-B14F-4D97-AF65-F5344CB8AC3E}">
        <p14:creationId xmlns:p14="http://schemas.microsoft.com/office/powerpoint/2010/main" val="1756972646"/>
      </p:ext>
    </p:extLst>
  </p:cSld>
</p:sld>
</file>

<file path=ppt/slides/slide31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31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Boosters Carrying the Maximum Payload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4DFBD04D-DECC-49B4-B78C-54DD9D15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990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0753D6"/>
                </a:solidFill>
              </a:defRPr>
            </a:defPPr>
            <a:lvl1pPr>
              <a:defRPr sz="4350" b="1">
                <a:solidFill>
                  <a:srgbClr val="0753D6"/>
                </a:solidFill>
              </a:defRPr>
            </a:lvl1pPr>
            <a:lvl2pPr>
              <a:defRPr sz="4350" b="1">
                <a:solidFill>
                  <a:srgbClr val="0753D6"/>
                </a:solidFill>
              </a:defRPr>
            </a:lvl2pPr>
            <a:lvl3pPr>
              <a:defRPr sz="4350" b="1">
                <a:solidFill>
                  <a:srgbClr val="0753D6"/>
                </a:solidFill>
              </a:defRPr>
            </a:lvl3pPr>
            <a:lvl4pPr>
              <a:defRPr sz="4350" b="1">
                <a:solidFill>
                  <a:srgbClr val="0753D6"/>
                </a:solidFill>
              </a:defRPr>
            </a:lvl4pPr>
            <a:lvl5pPr>
              <a:defRPr sz="4350" b="1">
                <a:solidFill>
                  <a:srgbClr val="0753D6"/>
                </a:solidFill>
              </a:defRPr>
            </a:lvl5pPr>
            <a:lvl6pPr>
              <a:defRPr sz="4350" b="1">
                <a:solidFill>
                  <a:srgbClr val="0753D6"/>
                </a:solidFill>
              </a:defRPr>
            </a:lvl6pPr>
            <a:lvl7pPr>
              <a:defRPr sz="4350" b="1">
                <a:solidFill>
                  <a:srgbClr val="0753D6"/>
                </a:solidFill>
              </a:defRPr>
            </a:lvl7pPr>
            <a:lvl8pPr>
              <a:defRPr sz="4350" b="1">
                <a:solidFill>
                  <a:srgbClr val="0753D6"/>
                </a:solidFill>
              </a:defRPr>
            </a:lvl8pPr>
            <a:lvl9pPr>
              <a:defRPr sz="4350" b="1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0753D6"/>
                </a:solidFill>
              </a:defRPr>
            </a:pPr>
            <a:r>
              <a:rPr sz="4350" b="1">
                <a:solidFill>
                  <a:srgbClr val="0753D6"/>
                </a:solidFill>
              </a:rPr>
              <a:t>15,600 kg</a:t>
            </a:r>
          </a:p>
        </p:txBody>
      </p:sp>
      <p:sp>
        <p:nvSpPr>
          <p:cNvPr id="8" name="content-4">
            <a:extLst xmlns:a="http://schemas.openxmlformats.org/drawingml/2006/main">
              <a:ext uri="{FF2B5EF4-FFF2-40B4-BE49-F238E27FC236}">
                <a16:creationId xmlns:a16="http://schemas.microsoft.com/office/drawing/2014/main" id="{D46F205B-DF6D-44AC-B50B-E57DE89C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Subquery: WHERE PAYLOAD_MASS__KG_ = (SELECT MAX(PAYLOAD_MASS__KG_) FROM SPACEXTABLE).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2AD7D-4A52-4975-AE98-61F4040DB3EC}"/>
              </a:ext>
            </a:extLst>
          </p:cNvPr>
          <p:cNvGraphicFramePr/>
          <p:nvPr/>
        </p:nvGraphicFramePr>
        <p:xfrm>
          <a:off xmlns:a="http://schemas.openxmlformats.org/drawingml/2006/main" x="876300" y="2809875"/>
          <a:ext xmlns:a="http://schemas.openxmlformats.org/drawingml/2006/main" cx="103822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60750"/>
                <a:gridCol w="3460750"/>
                <a:gridCol w="34607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badi"/>
                          <a:ea typeface="Abadi"/>
                          <a:cs typeface="Abadi"/>
                        </a:rPr>
                        <a:t>Booster version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badi"/>
                          <a:ea typeface="Abadi"/>
                          <a:cs typeface="Abadi"/>
                        </a:rPr>
                        <a:t>Booster version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badi"/>
                          <a:ea typeface="Abadi"/>
                          <a:cs typeface="Abadi"/>
                        </a:rPr>
                        <a:t>Booster version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3"/>
                          </a:solidFill>
                          <a:latin typeface="Abadi"/>
                          <a:ea typeface="Abadi"/>
                          <a:cs typeface="Abadi"/>
                        </a:rPr>
                        <a:t>F9 B5 B1048.4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3"/>
                          </a:solidFill>
                          <a:latin typeface="Abadi"/>
                          <a:ea typeface="Abadi"/>
                          <a:cs typeface="Abadi"/>
                        </a:rPr>
                        <a:t>F9 B5 B1049.4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3"/>
                          </a:solidFill>
                          <a:latin typeface="Abadi"/>
                          <a:ea typeface="Abadi"/>
                          <a:cs typeface="Abadi"/>
                        </a:rPr>
                        <a:t>F9 B5 B1051.3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3"/>
                          </a:solidFill>
                          <a:latin typeface="Abadi"/>
                          <a:ea typeface="Abadi"/>
                          <a:cs typeface="Abadi"/>
                        </a:rPr>
                        <a:t>F9 B5 B1056.4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3"/>
                          </a:solidFill>
                          <a:latin typeface="Abadi"/>
                          <a:ea typeface="Abadi"/>
                          <a:cs typeface="Abadi"/>
                        </a:rPr>
                        <a:t>F9 B5 B1048.5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3"/>
                          </a:solidFill>
                          <a:latin typeface="Abadi"/>
                          <a:ea typeface="Abadi"/>
                          <a:cs typeface="Abadi"/>
                        </a:rPr>
                        <a:t>F9 B5 B1051.4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3"/>
                          </a:solidFill>
                          <a:latin typeface="Abadi"/>
                          <a:ea typeface="Abadi"/>
                          <a:cs typeface="Abadi"/>
                        </a:rPr>
                        <a:t>F9 B5 B1049.5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3"/>
                          </a:solidFill>
                          <a:latin typeface="Abadi"/>
                          <a:ea typeface="Abadi"/>
                          <a:cs typeface="Abadi"/>
                        </a:rPr>
                        <a:t>F9 B5 B1060.2 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3"/>
                          </a:solidFill>
                          <a:latin typeface="Abadi"/>
                          <a:ea typeface="Abadi"/>
                          <a:cs typeface="Abadi"/>
                        </a:rPr>
                        <a:t>F9 B5 B1058.3 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3"/>
                          </a:solidFill>
                          <a:latin typeface="Abadi"/>
                          <a:ea typeface="Abadi"/>
                          <a:cs typeface="Abadi"/>
                        </a:rPr>
                        <a:t>F9 B5 B1051.6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3"/>
                          </a:solidFill>
                          <a:latin typeface="Abadi"/>
                          <a:ea typeface="Abadi"/>
                          <a:cs typeface="Abadi"/>
                        </a:rPr>
                        <a:t>F9 B5 B1060.3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3"/>
                          </a:solidFill>
                          <a:latin typeface="Abadi"/>
                          <a:ea typeface="Abadi"/>
                          <a:cs typeface="Abadi"/>
                        </a:rPr>
                        <a:t>F9 B5 B1049.7 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6646398"/>
      </p:ext>
    </p:extLst>
  </p:cSld>
</p:sld>
</file>

<file path=ppt/slides/slide32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32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Drone Ship Landing Failures in 2015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E11B8-7795-428D-97BD-059515D08B7A}"/>
              </a:ext>
            </a:extLst>
          </p:cNvPr>
          <p:cNvGraphicFramePr/>
          <p:nvPr/>
        </p:nvGraphicFramePr>
        <p:xfrm>
          <a:off xmlns:a="http://schemas.openxmlformats.org/drawingml/2006/main" x="876300" y="1905000"/>
          <a:ext xmlns:a="http://schemas.openxmlformats.org/drawingml/2006/main" cx="1038225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60750"/>
                <a:gridCol w="3460750"/>
                <a:gridCol w="3460750"/>
              </a:tblGrid>
              <a:tr h="793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Booster version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Launch site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2015-01-10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F9 v1.1 B1012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CCAFS LC-40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2015-04-14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F9 v1.1 B1015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CCAFS LC-40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</a:tbl>
          </a:graphicData>
        </a:graphic>
      </p:graphicFrame>
      <p:sp>
        <p:nvSpPr>
          <p:cNvPr id="7" name="content-3">
            <a:extLst xmlns:a="http://schemas.openxmlformats.org/drawingml/2006/main">
              <a:ext uri="{FF2B5EF4-FFF2-40B4-BE49-F238E27FC236}">
                <a16:creationId xmlns:a16="http://schemas.microsoft.com/office/drawing/2014/main" id="{63A419C3-2ED3-4F12-8338-EF063E52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B43"/>
                </a:solidFill>
              </a:defRPr>
            </a:defPPr>
            <a:lvl1pPr>
              <a:defRPr sz="2175" b="0">
                <a:solidFill>
                  <a:srgbClr val="182B43"/>
                </a:solidFill>
              </a:defRPr>
            </a:lvl1pPr>
            <a:lvl2pPr>
              <a:defRPr sz="2175" b="0">
                <a:solidFill>
                  <a:srgbClr val="182B43"/>
                </a:solidFill>
              </a:defRPr>
            </a:lvl2pPr>
            <a:lvl3pPr>
              <a:defRPr sz="2175" b="0">
                <a:solidFill>
                  <a:srgbClr val="182B43"/>
                </a:solidFill>
              </a:defRPr>
            </a:lvl3pPr>
            <a:lvl4pPr>
              <a:defRPr sz="2175" b="0">
                <a:solidFill>
                  <a:srgbClr val="182B43"/>
                </a:solidFill>
              </a:defRPr>
            </a:lvl4pPr>
            <a:lvl5pPr>
              <a:defRPr sz="2175" b="0">
                <a:solidFill>
                  <a:srgbClr val="182B43"/>
                </a:solidFill>
              </a:defRPr>
            </a:lvl5pPr>
            <a:lvl6pPr>
              <a:defRPr sz="2175" b="0">
                <a:solidFill>
                  <a:srgbClr val="182B43"/>
                </a:solidFill>
              </a:defRPr>
            </a:lvl6pPr>
            <a:lvl7pPr>
              <a:defRPr sz="2175" b="0">
                <a:solidFill>
                  <a:srgbClr val="182B43"/>
                </a:solidFill>
              </a:defRPr>
            </a:lvl7pPr>
            <a:lvl8pPr>
              <a:defRPr sz="2175" b="0">
                <a:solidFill>
                  <a:srgbClr val="182B43"/>
                </a:solidFill>
              </a:defRPr>
            </a:lvl8pPr>
            <a:lvl9pPr>
              <a:defRPr sz="217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2B43"/>
                </a:solidFill>
              </a:defRPr>
            </a:pPr>
            <a:r>
              <a:rPr sz="2175" b="0">
                <a:solidFill>
                  <a:srgbClr val="182B43"/>
                </a:solidFill>
              </a:rPr>
              <a:t>Two matching records in this filtered SQL sample.</a:t>
            </a:r>
          </a:p>
        </p:txBody>
      </p:sp>
      <p:sp>
        <p:nvSpPr>
          <p:cNvPr id="8" name="content-4">
            <a:extLst xmlns:a="http://schemas.openxmlformats.org/drawingml/2006/main">
              <a:ext uri="{FF2B5EF4-FFF2-40B4-BE49-F238E27FC236}">
                <a16:creationId xmlns:a16="http://schemas.microsoft.com/office/drawing/2014/main" id="{EB861239-B40B-4BEE-ACA5-54A7EEC9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WHERE Date LIKE '2015%' AND Landing_Outcome = 'Failure (drone ship)'.</a:t>
            </a:r>
          </a:p>
        </p:txBody>
      </p:sp>
    </p:spTree>
    <p:extLst>
      <p:ext uri="{BB962C8B-B14F-4D97-AF65-F5344CB8AC3E}">
        <p14:creationId xmlns:p14="http://schemas.microsoft.com/office/powerpoint/2010/main" val="1398439132"/>
      </p:ext>
    </p:extLst>
  </p:cSld>
</p:sld>
</file>

<file path=ppt/slides/slide33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33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Landing Outcomes: June 2010 to March 2017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79DC1-D0C4-4CD7-BCC0-5A5568DADE65}"/>
              </a:ext>
            </a:extLst>
          </p:cNvPr>
          <p:cNvGraphicFramePr/>
          <p:nvPr/>
        </p:nvGraphicFramePr>
        <p:xfrm>
          <a:off xmlns:a="http://schemas.openxmlformats.org/drawingml/2006/main" x="876300" y="1666875"/>
          <a:ext xmlns:a="http://schemas.openxmlformats.org/drawingml/2006/main" cx="8572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81250"/>
              </a:tblGrid>
              <a:tr h="428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Outcome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No attempt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Success (drone ship)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Failure (drone ship)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Success (ground pad)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Controlled (ocean)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Uncontrolled (ocean)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Failure (parachute)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Precluded (drone ship)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</a:tbl>
          </a:graphicData>
        </a:graphic>
      </p:graphicFrame>
      <p:sp>
        <p:nvSpPr>
          <p:cNvPr id="7" name="content-3">
            <a:extLst xmlns:a="http://schemas.openxmlformats.org/drawingml/2006/main">
              <a:ext uri="{FF2B5EF4-FFF2-40B4-BE49-F238E27FC236}">
                <a16:creationId xmlns:a16="http://schemas.microsoft.com/office/drawing/2014/main" id="{AB734EF3-153D-4B7C-8904-9628FACB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Inclusive period: 2010-06-04 to 2017-03-20. 31 records. Ties are ordered alphabetically.</a:t>
            </a: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</p:sld>
</file>

<file path=ppt/slides/slide34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970" y="2529746"/>
            <a:ext cx="1058303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48CB"/>
          </a:solidFill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</p:sld>
</file>

<file path=ppt/slides/slide35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35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Folium Results: Launch Site Locations</a:t>
            </a:r>
          </a:p>
        </p:txBody>
      </p:sp>
      <p:sp>
        <p:nvSpPr>
          <p:cNvPr id="7" name="content-3">
            <a:extLst xmlns:a="http://schemas.openxmlformats.org/drawingml/2006/main">
              <a:ext uri="{FF2B5EF4-FFF2-40B4-BE49-F238E27FC236}">
                <a16:creationId xmlns:a16="http://schemas.microsoft.com/office/drawing/2014/main" id="{592777A5-E359-49D0-820C-77FBCCF0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Static export of Folium coordinates. Four site labels, on the Florida and California coasts.</a:t>
            </a:r>
          </a:p>
        </p:txBody>
      </p:sp>
    </p:spTree>
    <p:extLst>
      <p:ext uri="{BB962C8B-B14F-4D97-AF65-F5344CB8AC3E}">
        <p14:creationId xmlns:p14="http://schemas.microsoft.com/office/powerpoint/2010/main" val="981671777"/>
      </p:ext>
    </p:extLst>
  </p:cSld>
</p:sld>
</file>

<file path=ppt/slides/slide36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36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Folium Results: Co-located Launch Outcomes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1A26B-F5F6-4955-8F4C-56FD1B942B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361d3405445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05894" y="1666875"/>
            <a:ext cx="6723062" cy="3667125"/>
          </a:xfrm>
          <a:prstGeom xmlns:a="http://schemas.openxmlformats.org/drawingml/2006/main" prst="rect">
            <a:avLst/>
          </a:prstGeom>
        </p:spPr>
      </p:pic>
      <p:sp>
        <p:nvSpPr>
          <p:cNvPr id="10" name="content-3">
            <a:extLst xmlns:a="http://schemas.openxmlformats.org/drawingml/2006/main">
              <a:ext uri="{FF2B5EF4-FFF2-40B4-BE49-F238E27FC236}">
                <a16:creationId xmlns:a16="http://schemas.microsoft.com/office/drawing/2014/main" id="{833AC09E-7C9E-4E52-BAF9-75031007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Static export, 56-launch sample. Green = class 1, red = class 0. Markers spread for visibility.</a:t>
            </a:r>
          </a:p>
        </p:txBody>
      </p:sp>
    </p:spTree>
    <p:extLst>
      <p:ext uri="{BB962C8B-B14F-4D97-AF65-F5344CB8AC3E}">
        <p14:creationId xmlns:p14="http://schemas.microsoft.com/office/powerpoint/2010/main" val="239597884"/>
      </p:ext>
    </p:extLst>
  </p:cSld>
</p:sld>
</file>

<file path=ppt/slides/slide37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37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690688"/>
            <a:ext cx="8597827" cy="43148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Folium Results: Coastline Reference Distance</a:t>
            </a:r>
          </a:p>
        </p:txBody>
      </p:sp>
      <p:sp>
        <p:nvSpPr>
          <p:cNvPr id="10" name="content-3">
            <a:extLst xmlns:a="http://schemas.openxmlformats.org/drawingml/2006/main">
              <a:ext uri="{FF2B5EF4-FFF2-40B4-BE49-F238E27FC236}">
                <a16:creationId xmlns:a16="http://schemas.microsoft.com/office/drawing/2014/main" id="{0B5B9971-1F43-4EDE-AF8E-D584FACF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82B43"/>
                </a:solidFill>
              </a:defRPr>
            </a:defPPr>
            <a:lvl1pPr>
              <a:defRPr sz="1725" b="0">
                <a:solidFill>
                  <a:srgbClr val="182B43"/>
                </a:solidFill>
              </a:defRPr>
            </a:lvl1pPr>
            <a:lvl2pPr>
              <a:defRPr sz="1725" b="0">
                <a:solidFill>
                  <a:srgbClr val="182B43"/>
                </a:solidFill>
              </a:defRPr>
            </a:lvl2pPr>
            <a:lvl3pPr>
              <a:defRPr sz="1725" b="0">
                <a:solidFill>
                  <a:srgbClr val="182B43"/>
                </a:solidFill>
              </a:defRPr>
            </a:lvl3pPr>
            <a:lvl4pPr>
              <a:defRPr sz="1725" b="0">
                <a:solidFill>
                  <a:srgbClr val="182B43"/>
                </a:solidFill>
              </a:defRPr>
            </a:lvl4pPr>
            <a:lvl5pPr>
              <a:defRPr sz="1725" b="0">
                <a:solidFill>
                  <a:srgbClr val="182B43"/>
                </a:solidFill>
              </a:defRPr>
            </a:lvl5pPr>
            <a:lvl6pPr>
              <a:defRPr sz="1725" b="0">
                <a:solidFill>
                  <a:srgbClr val="182B43"/>
                </a:solidFill>
              </a:defRPr>
            </a:lvl6pPr>
            <a:lvl7pPr>
              <a:defRPr sz="1725" b="0">
                <a:solidFill>
                  <a:srgbClr val="182B43"/>
                </a:solidFill>
              </a:defRPr>
            </a:lvl7pPr>
            <a:lvl8pPr>
              <a:defRPr sz="1725" b="0">
                <a:solidFill>
                  <a:srgbClr val="182B43"/>
                </a:solidFill>
              </a:defRPr>
            </a:lvl8pPr>
            <a:lvl9pPr>
              <a:defRPr sz="172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2B43"/>
                </a:solidFill>
              </a:defRPr>
            </a:pPr>
            <a:r>
              <a:rPr sz="1725" b="0">
                <a:solidFill>
                  <a:srgbClr val="182B43"/>
                </a:solidFill>
              </a:rPr>
              <a:t>CCAFS SLC-40 to the lab coastline reference: about 0.51 km, at a point selected for the exercise.</a:t>
            </a:r>
          </a:p>
        </p:txBody>
      </p:sp>
      <p:sp>
        <p:nvSpPr>
          <p:cNvPr id="11" name="content-4">
            <a:extLst xmlns:a="http://schemas.openxmlformats.org/drawingml/2006/main">
              <a:ext uri="{FF2B5EF4-FFF2-40B4-BE49-F238E27FC236}">
                <a16:creationId xmlns:a16="http://schemas.microsoft.com/office/drawing/2014/main" id="{178DB53D-B178-47C5-A105-0E8EF2A3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Approximate study coordinate. This is not a validated minimum distance to the coast or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32499080"/>
      </p:ext>
    </p:extLst>
  </p:cSld>
</p:sld>
</file>

<file path=ppt/slides/slide38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38BBD4D-F87B-2648-91EB-CF6A4BF6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970" y="2529746"/>
            <a:ext cx="1058303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48CB"/>
          </a:solidFill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</p:sld>
</file>

<file path=ppt/slides/slide39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39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Dash Results: Successful Launches by Site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E7BB1CE5-95A0-4377-9335-2C31E4FEBA28}"/>
              </a:ext>
            </a:extLst>
          </p:cNvPr>
          <p:cNvGraphicFramePr/>
          <p:nvPr/>
        </p:nvGraphicFramePr>
        <p:xfrm>
          <a:off xmlns:a="http://schemas.openxmlformats.org/drawingml/2006/main" x="876300" y="1666875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c1948a2fe84b40"/>
          </a:graphicData>
        </a:graphic>
      </p:graphicFrame>
      <p:sp>
        <p:nvSpPr>
          <p:cNvPr id="10" name="content-3">
            <a:extLst xmlns:a="http://schemas.openxmlformats.org/drawingml/2006/main">
              <a:ext uri="{FF2B5EF4-FFF2-40B4-BE49-F238E27FC236}">
                <a16:creationId xmlns:a16="http://schemas.microsoft.com/office/drawing/2014/main" id="{B2641EF0-CF53-4CFC-9763-3305A996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33813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43"/>
                </a:solidFill>
              </a:defRPr>
            </a:defPPr>
            <a:lvl1pPr>
              <a:defRPr sz="2025" b="0">
                <a:solidFill>
                  <a:srgbClr val="182B43"/>
                </a:solidFill>
              </a:defRPr>
            </a:lvl1pPr>
            <a:lvl2pPr>
              <a:defRPr sz="2025" b="0">
                <a:solidFill>
                  <a:srgbClr val="182B43"/>
                </a:solidFill>
              </a:defRPr>
            </a:lvl2pPr>
            <a:lvl3pPr>
              <a:defRPr sz="2025" b="0">
                <a:solidFill>
                  <a:srgbClr val="182B43"/>
                </a:solidFill>
              </a:defRPr>
            </a:lvl3pPr>
            <a:lvl4pPr>
              <a:defRPr sz="2025" b="0">
                <a:solidFill>
                  <a:srgbClr val="182B43"/>
                </a:solidFill>
              </a:defRPr>
            </a:lvl4pPr>
            <a:lvl5pPr>
              <a:defRPr sz="2025" b="0">
                <a:solidFill>
                  <a:srgbClr val="182B43"/>
                </a:solidFill>
              </a:defRPr>
            </a:lvl5pPr>
            <a:lvl6pPr>
              <a:defRPr sz="2025" b="0">
                <a:solidFill>
                  <a:srgbClr val="182B43"/>
                </a:solidFill>
              </a:defRPr>
            </a:lvl6pPr>
            <a:lvl7pPr>
              <a:defRPr sz="2025" b="0">
                <a:solidFill>
                  <a:srgbClr val="182B43"/>
                </a:solidFill>
              </a:defRPr>
            </a:lvl7pPr>
            <a:lvl8pPr>
              <a:defRPr sz="2025" b="0">
                <a:solidFill>
                  <a:srgbClr val="182B43"/>
                </a:solidFill>
              </a:defRPr>
            </a:lvl8pPr>
            <a:lvl9pPr>
              <a:defRPr sz="202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Selection: ALL sites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KSC LC-39A contributes 10 of 24 positive outcomes (41.7%).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Largest success count in this sample.</a:t>
            </a:r>
          </a:p>
        </p:txBody>
      </p:sp>
      <p:sp>
        <p:nvSpPr>
          <p:cNvPr id="11" name="content-4">
            <a:extLst xmlns:a="http://schemas.openxmlformats.org/drawingml/2006/main">
              <a:ext uri="{FF2B5EF4-FFF2-40B4-BE49-F238E27FC236}">
                <a16:creationId xmlns:a16="http://schemas.microsoft.com/office/drawing/2014/main" id="{00F0721B-2995-43C2-A476-2ACD2A41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Static chart of the dashboard callback result. Pie values count successes, not all launches.</a:t>
            </a:r>
          </a:p>
        </p:txBody>
      </p:sp>
    </p:spTree>
    <p:extLst>
      <p:ext uri="{BB962C8B-B14F-4D97-AF65-F5344CB8AC3E}">
        <p14:creationId xmlns:p14="http://schemas.microsoft.com/office/powerpoint/2010/main" val="700132931"/>
      </p:ext>
    </p:extLst>
  </p:cSld>
</p:sld>
</file>

<file path=ppt/slides/slide40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40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34027" y="1825625"/>
            <a:ext cx="10551583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Dash Results: KSC Has the Highest Success Rate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45DF6D2F-50D4-4554-A240-42B9052870B5}"/>
              </a:ext>
            </a:extLst>
          </p:cNvPr>
          <p:cNvGraphicFramePr/>
          <p:nvPr/>
        </p:nvGraphicFramePr>
        <p:xfrm>
          <a:off xmlns:a="http://schemas.openxmlformats.org/drawingml/2006/main" x="876300" y="1666875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9528545ac1439c"/>
          </a:graphicData>
        </a:graphic>
      </p:graphicFrame>
      <p:sp>
        <p:nvSpPr>
          <p:cNvPr id="10" name="content-3">
            <a:extLst xmlns:a="http://schemas.openxmlformats.org/drawingml/2006/main">
              <a:ext uri="{FF2B5EF4-FFF2-40B4-BE49-F238E27FC236}">
                <a16:creationId xmlns:a16="http://schemas.microsoft.com/office/drawing/2014/main" id="{95AF0A38-9767-427B-B44F-BB9B6EFD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33813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43"/>
                </a:solidFill>
              </a:defRPr>
            </a:defPPr>
            <a:lvl1pPr>
              <a:defRPr sz="2025" b="0">
                <a:solidFill>
                  <a:srgbClr val="182B43"/>
                </a:solidFill>
              </a:defRPr>
            </a:lvl1pPr>
            <a:lvl2pPr>
              <a:defRPr sz="2025" b="0">
                <a:solidFill>
                  <a:srgbClr val="182B43"/>
                </a:solidFill>
              </a:defRPr>
            </a:lvl2pPr>
            <a:lvl3pPr>
              <a:defRPr sz="2025" b="0">
                <a:solidFill>
                  <a:srgbClr val="182B43"/>
                </a:solidFill>
              </a:defRPr>
            </a:lvl3pPr>
            <a:lvl4pPr>
              <a:defRPr sz="2025" b="0">
                <a:solidFill>
                  <a:srgbClr val="182B43"/>
                </a:solidFill>
              </a:defRPr>
            </a:lvl4pPr>
            <a:lvl5pPr>
              <a:defRPr sz="2025" b="0">
                <a:solidFill>
                  <a:srgbClr val="182B43"/>
                </a:solidFill>
              </a:defRPr>
            </a:lvl5pPr>
            <a:lvl6pPr>
              <a:defRPr sz="2025" b="0">
                <a:solidFill>
                  <a:srgbClr val="182B43"/>
                </a:solidFill>
              </a:defRPr>
            </a:lvl6pPr>
            <a:lvl7pPr>
              <a:defRPr sz="2025" b="0">
                <a:solidFill>
                  <a:srgbClr val="182B43"/>
                </a:solidFill>
              </a:defRPr>
            </a:lvl7pPr>
            <a:lvl8pPr>
              <a:defRPr sz="2025" b="0">
                <a:solidFill>
                  <a:srgbClr val="182B43"/>
                </a:solidFill>
              </a:defRPr>
            </a:lvl8pPr>
            <a:lvl9pPr>
              <a:defRPr sz="202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Selection: KSC LC-39A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10 successes / 13 launches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76.9% success rate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Sample: 56 total launches.</a:t>
            </a:r>
          </a:p>
        </p:txBody>
      </p:sp>
      <p:sp>
        <p:nvSpPr>
          <p:cNvPr id="11" name="content-4">
            <a:extLst xmlns:a="http://schemas.openxmlformats.org/drawingml/2006/main">
              <a:ext uri="{FF2B5EF4-FFF2-40B4-BE49-F238E27FC236}">
                <a16:creationId xmlns:a16="http://schemas.microsoft.com/office/drawing/2014/main" id="{01E3E29C-8CB3-43A5-A1AB-C7D66F9A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Static chart of the selected-site dashboard callback result.</a:t>
            </a:r>
          </a:p>
        </p:txBody>
      </p:sp>
    </p:spTree>
    <p:extLst>
      <p:ext uri="{BB962C8B-B14F-4D97-AF65-F5344CB8AC3E}">
        <p14:creationId xmlns:p14="http://schemas.microsoft.com/office/powerpoint/2010/main" val="1866160706"/>
      </p:ext>
    </p:extLst>
  </p:cSld>
</p:sld>
</file>

<file path=ppt/slides/slide41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41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1" y="1825625"/>
            <a:ext cx="10414662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12" name="Title 1">
            <a:extLst xmlns:a="http://schemas.openxmlformats.org/drawingml/2006/main"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Dash Results: Payload Filters and Booster Versions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BCF04-97B0-4602-A3CD-2C97B02A1506}"/>
              </a:ext>
            </a:extLst>
          </p:cNvPr>
          <p:cNvGraphicFramePr/>
          <p:nvPr/>
        </p:nvGraphicFramePr>
        <p:xfrm>
          <a:off xmlns:a="http://schemas.openxmlformats.org/drawingml/2006/main" x="876300" y="1714500"/>
          <a:ext xmlns:a="http://schemas.openxmlformats.org/drawingml/2006/main" cx="103822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2381250"/>
                <a:gridCol w="2286000"/>
              </a:tblGrid>
              <a:tr h="647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Selection / comparison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Successes / 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Rate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Payload &gt;3,000 to 4,000 kg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8 / 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72.7%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Payload &gt;6,000 to 7,000 kg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0 / 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Booster B5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1 /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100.0%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Booster FT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16 / 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66.7%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</a:tbl>
          </a:graphicData>
        </a:graphic>
      </p:graphicFrame>
      <p:sp>
        <p:nvSpPr>
          <p:cNvPr id="14" name="content-3">
            <a:extLst xmlns:a="http://schemas.openxmlformats.org/drawingml/2006/main">
              <a:ext uri="{FF2B5EF4-FFF2-40B4-BE49-F238E27FC236}">
                <a16:creationId xmlns:a16="http://schemas.microsoft.com/office/drawing/2014/main" id="{4207A461-121B-4915-854C-17952DD7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2B43"/>
                </a:solidFill>
              </a:defRPr>
            </a:defPPr>
            <a:lvl1pPr>
              <a:defRPr sz="1800" b="0">
                <a:solidFill>
                  <a:srgbClr val="182B43"/>
                </a:solidFill>
              </a:defRPr>
            </a:lvl1pPr>
            <a:lvl2pPr>
              <a:defRPr sz="1800" b="0">
                <a:solidFill>
                  <a:srgbClr val="182B43"/>
                </a:solidFill>
              </a:defRPr>
            </a:lvl2pPr>
            <a:lvl3pPr>
              <a:defRPr sz="1800" b="0">
                <a:solidFill>
                  <a:srgbClr val="182B43"/>
                </a:solidFill>
              </a:defRPr>
            </a:lvl3pPr>
            <a:lvl4pPr>
              <a:defRPr sz="1800" b="0">
                <a:solidFill>
                  <a:srgbClr val="182B43"/>
                </a:solidFill>
              </a:defRPr>
            </a:lvl4pPr>
            <a:lvl5pPr>
              <a:defRPr sz="1800" b="0">
                <a:solidFill>
                  <a:srgbClr val="182B43"/>
                </a:solidFill>
              </a:defRPr>
            </a:lvl5pPr>
            <a:lvl6pPr>
              <a:defRPr sz="1800" b="0">
                <a:solidFill>
                  <a:srgbClr val="182B43"/>
                </a:solidFill>
              </a:defRPr>
            </a:lvl6pPr>
            <a:lvl7pPr>
              <a:defRPr sz="1800" b="0">
                <a:solidFill>
                  <a:srgbClr val="182B43"/>
                </a:solidFill>
              </a:defRPr>
            </a:lvl7pPr>
            <a:lvl8pPr>
              <a:defRPr sz="1800" b="0">
                <a:solidFill>
                  <a:srgbClr val="182B43"/>
                </a:solidFill>
              </a:defRPr>
            </a:lvl8pPr>
            <a:lvl9pPr>
              <a:defRPr sz="1800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2B43"/>
                </a:solidFill>
              </a:defRPr>
            </a:pPr>
            <a:r>
              <a:rPr sz="1800" b="0">
                <a:solidFill>
                  <a:srgbClr val="182B43"/>
                </a:solidFill>
              </a:rPr>
              <a:t>Rates depend on the selected bins and small denominators. B5 has only one observation.</a:t>
            </a:r>
          </a:p>
        </p:txBody>
      </p:sp>
      <p:sp>
        <p:nvSpPr>
          <p:cNvPr id="15" name="content-4">
            <a:extLst xmlns:a="http://schemas.openxmlformats.org/drawingml/2006/main">
              <a:ext uri="{FF2B5EF4-FFF2-40B4-BE49-F238E27FC236}">
                <a16:creationId xmlns:a16="http://schemas.microsoft.com/office/drawing/2014/main" id="{1B1C940B-6F57-4143-9DA3-983A546A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Dash dataset, 56 launches. Fixed 1,000 kg bins, lower boundary excluded and upper included.</a:t>
            </a:r>
          </a:p>
        </p:txBody>
      </p:sp>
    </p:spTree>
    <p:extLst>
      <p:ext uri="{BB962C8B-B14F-4D97-AF65-F5344CB8AC3E}">
        <p14:creationId xmlns:p14="http://schemas.microsoft.com/office/powerpoint/2010/main" val="252359608"/>
      </p:ext>
    </p:extLst>
  </p:cSld>
</p:sld>
</file>

<file path=ppt/slides/slide42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970" y="2529746"/>
            <a:ext cx="1058303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48CB"/>
          </a:solidFill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</p:sld>
</file>

<file path=ppt/slides/slide43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43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770010" y="2082114"/>
            <a:ext cx="5325989" cy="381158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  <a:endParaRPr sz="2200">
              <a:solidFill>
                <a:schemeClr val="accent3">
                  <a:lumMod val="25000"/>
                </a:schemeClr>
              </a:solidFill>
              <a:latin typeface="Abadi"/>
              <a:ea typeface="Abadi"/>
              <a:cs typeface="Abadi"/>
            </a:endParaRPr>
          </a:p>
        </p:txBody>
      </p:sp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Classification Accuracy</a:t>
            </a:r>
            <a:endParaRPr>
              <a:solidFill>
                <a:srgbClr val="0B49CB"/>
              </a:solidFill>
            </a:endParaRP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6608F48B-05FD-4907-93A8-291ECB6D202F}"/>
              </a:ext>
            </a:extLst>
          </p:cNvPr>
          <p:cNvGraphicFramePr/>
          <p:nvPr/>
        </p:nvGraphicFramePr>
        <p:xfrm>
          <a:off xmlns:a="http://schemas.openxmlformats.org/drawingml/2006/main" x="876300" y="1666875"/>
          <a:ext xmlns:a="http://schemas.openxmlformats.org/drawingml/2006/main" cx="7334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f9a171cc5d4a79"/>
          </a:graphicData>
        </a:graphic>
      </p:graphicFrame>
      <p:sp>
        <p:nvSpPr>
          <p:cNvPr id="11" name="content-3">
            <a:extLst xmlns:a="http://schemas.openxmlformats.org/drawingml/2006/main">
              <a:ext uri="{FF2B5EF4-FFF2-40B4-BE49-F238E27FC236}">
                <a16:creationId xmlns:a16="http://schemas.microsoft.com/office/drawing/2014/main" id="{EC3A744F-0DD1-4DCC-BB28-AD652CCF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05000"/>
            <a:ext cx="266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3"/>
                </a:solidFill>
              </a:defRPr>
            </a:defPPr>
            <a:lvl1pPr>
              <a:defRPr sz="1875" b="0">
                <a:solidFill>
                  <a:srgbClr val="182B43"/>
                </a:solidFill>
              </a:defRPr>
            </a:lvl1pPr>
            <a:lvl2pPr>
              <a:defRPr sz="1875" b="0">
                <a:solidFill>
                  <a:srgbClr val="182B43"/>
                </a:solidFill>
              </a:defRPr>
            </a:lvl2pPr>
            <a:lvl3pPr>
              <a:defRPr sz="1875" b="0">
                <a:solidFill>
                  <a:srgbClr val="182B43"/>
                </a:solidFill>
              </a:defRPr>
            </a:lvl3pPr>
            <a:lvl4pPr>
              <a:defRPr sz="1875" b="0">
                <a:solidFill>
                  <a:srgbClr val="182B43"/>
                </a:solidFill>
              </a:defRPr>
            </a:lvl4pPr>
            <a:lvl5pPr>
              <a:defRPr sz="1875" b="0">
                <a:solidFill>
                  <a:srgbClr val="182B43"/>
                </a:solidFill>
              </a:defRPr>
            </a:lvl5pPr>
            <a:lvl6pPr>
              <a:defRPr sz="1875" b="0">
                <a:solidFill>
                  <a:srgbClr val="182B43"/>
                </a:solidFill>
              </a:defRPr>
            </a:lvl6pPr>
            <a:lvl7pPr>
              <a:defRPr sz="1875" b="0">
                <a:solidFill>
                  <a:srgbClr val="182B43"/>
                </a:solidFill>
              </a:defRPr>
            </a:lvl7pPr>
            <a:lvl8pPr>
              <a:defRPr sz="1875" b="0">
                <a:solidFill>
                  <a:srgbClr val="182B43"/>
                </a:solidFill>
              </a:defRPr>
            </a:lvl8pPr>
            <a:lvl9pPr>
              <a:defRPr sz="187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All models: 83.3% test accuracy.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Decision tree: highest CV score, 87.68%.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There is no unique test winner.</a:t>
            </a:r>
          </a:p>
        </p:txBody>
      </p:sp>
      <p:sp>
        <p:nvSpPr>
          <p:cNvPr id="12" name="content-4">
            <a:extLst xmlns:a="http://schemas.openxmlformats.org/drawingml/2006/main">
              <a:ext uri="{FF2B5EF4-FFF2-40B4-BE49-F238E27FC236}">
                <a16:creationId xmlns:a16="http://schemas.microsoft.com/office/drawing/2014/main" id="{E6D469C7-F75A-48F2-B344-E1AC824C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10-fold validation on 72 training records. Test contains 18 launches. CV and test scores serve different roles.</a:t>
            </a:r>
          </a:p>
        </p:txBody>
      </p:sp>
    </p:spTree>
    <p:extLst>
      <p:ext uri="{BB962C8B-B14F-4D97-AF65-F5344CB8AC3E}">
        <p14:creationId xmlns:p14="http://schemas.microsoft.com/office/powerpoint/2010/main" val="2459446073"/>
      </p:ext>
    </p:extLst>
  </p:cSld>
</p:sld>
</file>

<file path=ppt/slides/slide44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44</a:t>
            </a:fld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770011" y="2057400"/>
            <a:ext cx="9477960" cy="381158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Confusion Matrix: Decision Tree</a:t>
            </a:r>
            <a:endParaRPr>
              <a:solidFill>
                <a:srgbClr val="0B49CB"/>
              </a:solidFill>
            </a:endParaRP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03ED8-66EE-4F5C-86CD-86D69B086874}"/>
              </a:ext>
            </a:extLst>
          </p:cNvPr>
          <p:cNvGraphicFramePr/>
          <p:nvPr/>
        </p:nvGraphicFramePr>
        <p:xfrm>
          <a:off xmlns:a="http://schemas.openxmlformats.org/drawingml/2006/main" x="876300" y="1952625"/>
          <a:ext xmlns:a="http://schemas.openxmlformats.org/drawingml/2006/main" cx="66675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905000"/>
                <a:gridCol w="1905000"/>
              </a:tblGrid>
              <a:tr h="825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Actual / predicted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Did not land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Landed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Did not land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Landed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</a:tbl>
          </a:graphicData>
        </a:graphic>
      </p:graphicFrame>
      <p:sp>
        <p:nvSpPr>
          <p:cNvPr id="11" name="content-3">
            <a:extLst xmlns:a="http://schemas.openxmlformats.org/drawingml/2006/main">
              <a:ext uri="{FF2B5EF4-FFF2-40B4-BE49-F238E27FC236}">
                <a16:creationId xmlns:a16="http://schemas.microsoft.com/office/drawing/2014/main" id="{F1A3472C-1E74-42DB-92BE-43E459F0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861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3"/>
                </a:solidFill>
              </a:defRPr>
            </a:defPPr>
            <a:lvl1pPr>
              <a:defRPr sz="1950" b="0">
                <a:solidFill>
                  <a:srgbClr val="182B43"/>
                </a:solidFill>
              </a:defRPr>
            </a:lvl1pPr>
            <a:lvl2pPr>
              <a:defRPr sz="1950" b="0">
                <a:solidFill>
                  <a:srgbClr val="182B43"/>
                </a:solidFill>
              </a:defRPr>
            </a:lvl2pPr>
            <a:lvl3pPr>
              <a:defRPr sz="1950" b="0">
                <a:solidFill>
                  <a:srgbClr val="182B43"/>
                </a:solidFill>
              </a:defRPr>
            </a:lvl3pPr>
            <a:lvl4pPr>
              <a:defRPr sz="1950" b="0">
                <a:solidFill>
                  <a:srgbClr val="182B43"/>
                </a:solidFill>
              </a:defRPr>
            </a:lvl4pPr>
            <a:lvl5pPr>
              <a:defRPr sz="1950" b="0">
                <a:solidFill>
                  <a:srgbClr val="182B43"/>
                </a:solidFill>
              </a:defRPr>
            </a:lvl5pPr>
            <a:lvl6pPr>
              <a:defRPr sz="1950" b="0">
                <a:solidFill>
                  <a:srgbClr val="182B43"/>
                </a:solidFill>
              </a:defRPr>
            </a:lvl6pPr>
            <a:lvl7pPr>
              <a:defRPr sz="1950" b="0">
                <a:solidFill>
                  <a:srgbClr val="182B43"/>
                </a:solidFill>
              </a:defRPr>
            </a:lvl7pPr>
            <a:lvl8pPr>
              <a:defRPr sz="1950" b="0">
                <a:solidFill>
                  <a:srgbClr val="182B43"/>
                </a:solidFill>
              </a:defRPr>
            </a:lvl8pPr>
            <a:lvl9pPr>
              <a:defRPr sz="1950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B43"/>
                </a:solidFill>
              </a:defRPr>
            </a:pPr>
            <a:r>
              <a:rPr sz="1950" b="0">
                <a:solidFill>
                  <a:srgbClr val="182B43"/>
                </a:solidFill>
              </a:rPr>
              <a:t>True positives: 12</a:t>
            </a:r>
          </a:p>
          <a:p xmlns:a="http://schemas.openxmlformats.org/drawingml/2006/main">
            <a:pPr>
              <a:defRPr sz="1950" b="0">
                <a:solidFill>
                  <a:srgbClr val="182B43"/>
                </a:solidFill>
              </a:defRPr>
            </a:pPr>
            <a:r>
              <a:rPr sz="1950" b="0">
                <a:solidFill>
                  <a:srgbClr val="182B43"/>
                </a:solidFill>
              </a:rPr>
              <a:t>True negatives: 3</a:t>
            </a:r>
          </a:p>
          <a:p xmlns:a="http://schemas.openxmlformats.org/drawingml/2006/main">
            <a:pPr>
              <a:defRPr sz="1950" b="0">
                <a:solidFill>
                  <a:srgbClr val="182B43"/>
                </a:solidFill>
              </a:defRPr>
            </a:pPr>
            <a:r>
              <a:rPr sz="1950" b="0">
                <a:solidFill>
                  <a:srgbClr val="182B43"/>
                </a:solidFill>
              </a:rPr>
              <a:t>False positives: 3</a:t>
            </a:r>
          </a:p>
          <a:p xmlns:a="http://schemas.openxmlformats.org/drawingml/2006/main">
            <a:pPr>
              <a:defRPr sz="1950" b="0">
                <a:solidFill>
                  <a:srgbClr val="182B43"/>
                </a:solidFill>
              </a:defRPr>
            </a:pPr>
            <a:r>
              <a:rPr sz="1950" b="0">
                <a:solidFill>
                  <a:srgbClr val="182B43"/>
                </a:solidFill>
              </a:rPr>
              <a:t>False negatives: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2B43"/>
                </a:solidFill>
              </a:defRPr>
            </a:pPr>
            <a:r>
              <a:rPr sz="1950" b="0">
                <a:solidFill>
                  <a:srgbClr val="182B43"/>
                </a:solidFill>
              </a:rPr>
              <a:t>Positive precision: 80%</a:t>
            </a:r>
          </a:p>
          <a:p xmlns:a="http://schemas.openxmlformats.org/drawingml/2006/main">
            <a:pPr>
              <a:defRPr sz="1950" b="0">
                <a:solidFill>
                  <a:srgbClr val="182B43"/>
                </a:solidFill>
              </a:defRPr>
            </a:pPr>
            <a:r>
              <a:rPr sz="1950" b="0">
                <a:solidFill>
                  <a:srgbClr val="182B43"/>
                </a:solidFill>
              </a:rPr>
              <a:t>Positive recall: 100%</a:t>
            </a:r>
          </a:p>
        </p:txBody>
      </p:sp>
      <p:sp>
        <p:nvSpPr>
          <p:cNvPr id="12" name="content-4">
            <a:extLst xmlns:a="http://schemas.openxmlformats.org/drawingml/2006/main">
              <a:ext uri="{FF2B5EF4-FFF2-40B4-BE49-F238E27FC236}">
                <a16:creationId xmlns:a16="http://schemas.microsoft.com/office/drawing/2014/main" id="{81D6175D-671A-4BBA-BF66-95382958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Selected by CV score. False positives create overconfidence in landing success. Results use the lab label.</a:t>
            </a:r>
          </a:p>
        </p:txBody>
      </p:sp>
    </p:spTree>
    <p:extLst>
      <p:ext uri="{BB962C8B-B14F-4D97-AF65-F5344CB8AC3E}">
        <p14:creationId xmlns:p14="http://schemas.microsoft.com/office/powerpoint/2010/main" val="3645034231"/>
      </p:ext>
    </p:extLst>
  </p:cSld>
</p:sld>
</file>

<file path=ppt/slides/slide45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45</a:t>
            </a:fld>
            <a:endParaRPr/>
          </a:p>
        </p:txBody>
      </p:sp>
      <p:sp>
        <p:nvSpPr>
          <p:cNvPr id="5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1" y="1875054"/>
            <a:ext cx="5903913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Conclusions</a:t>
            </a:r>
            <a:endParaRPr>
              <a:solidFill>
                <a:srgbClr val="0B49CB"/>
              </a:solidFill>
            </a:endParaRPr>
          </a:p>
        </p:txBody>
      </p:sp>
      <p:sp>
        <p:nvSpPr>
          <p:cNvPr id="10" name="content-3">
            <a:extLst xmlns:a="http://schemas.openxmlformats.org/drawingml/2006/main">
              <a:ext uri="{FF2B5EF4-FFF2-40B4-BE49-F238E27FC236}">
                <a16:creationId xmlns:a16="http://schemas.microsoft.com/office/drawing/2014/main" id="{D2D1AB67-7120-420D-9558-6A7F042D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103822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43"/>
                </a:solidFill>
              </a:defRPr>
            </a:defPPr>
            <a:lvl1pPr>
              <a:defRPr sz="2025" b="0">
                <a:solidFill>
                  <a:srgbClr val="182B43"/>
                </a:solidFill>
              </a:defRPr>
            </a:lvl1pPr>
            <a:lvl2pPr>
              <a:defRPr sz="2025" b="0">
                <a:solidFill>
                  <a:srgbClr val="182B43"/>
                </a:solidFill>
              </a:defRPr>
            </a:lvl2pPr>
            <a:lvl3pPr>
              <a:defRPr sz="2025" b="0">
                <a:solidFill>
                  <a:srgbClr val="182B43"/>
                </a:solidFill>
              </a:defRPr>
            </a:lvl3pPr>
            <a:lvl4pPr>
              <a:defRPr sz="2025" b="0">
                <a:solidFill>
                  <a:srgbClr val="182B43"/>
                </a:solidFill>
              </a:defRPr>
            </a:lvl4pPr>
            <a:lvl5pPr>
              <a:defRPr sz="2025" b="0">
                <a:solidFill>
                  <a:srgbClr val="182B43"/>
                </a:solidFill>
              </a:defRPr>
            </a:lvl5pPr>
            <a:lvl6pPr>
              <a:defRPr sz="2025" b="0">
                <a:solidFill>
                  <a:srgbClr val="182B43"/>
                </a:solidFill>
              </a:defRPr>
            </a:lvl6pPr>
            <a:lvl7pPr>
              <a:defRPr sz="2025" b="0">
                <a:solidFill>
                  <a:srgbClr val="182B43"/>
                </a:solidFill>
              </a:defRPr>
            </a:lvl7pPr>
            <a:lvl8pPr>
              <a:defRPr sz="2025" b="0">
                <a:solidFill>
                  <a:srgbClr val="182B43"/>
                </a:solidFill>
              </a:defRPr>
            </a:lvl8pPr>
            <a:lvl9pPr>
              <a:defRPr sz="202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The historical dataset supports a complete collection-to-model workflow.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EDA shows patterns across site, orbit and time, with confounding and small groups.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All four classifiers reach 83.3% test accuracy. The decision tree leads validation.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The landing label and intended business use need closer alignment.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</a:defRPr>
            </a:pPr>
            <a:r>
              <a:rPr sz="2025" b="0">
                <a:solidFill>
                  <a:srgbClr val="182B43"/>
                </a:solidFill>
              </a:rPr>
              <a:t>Next evaluation: chronological split, fold-specific preprocessing and as-of-launch features.</a:t>
            </a: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</p:sld>
</file>

<file path=ppt/slides/slide46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75537C-CA84-1446-933C-8E9D027F9201}" type="slidenum">
              <a:t>46</a:t>
            </a:fld>
            <a:endParaRPr/>
          </a:p>
        </p:txBody>
      </p:sp>
      <p:sp>
        <p:nvSpPr>
          <p:cNvPr id="5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1" y="1859522"/>
            <a:ext cx="10515600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Appendix: Dataset Scope and Reproducibility</a:t>
            </a:r>
            <a:endParaRPr>
              <a:solidFill>
                <a:srgbClr val="0B49CB"/>
              </a:solidFill>
            </a:endParaRP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3E6A5-78ED-4CD5-AC16-417476678A3D}"/>
              </a:ext>
            </a:extLst>
          </p:cNvPr>
          <p:cNvGraphicFramePr/>
          <p:nvPr/>
        </p:nvGraphicFramePr>
        <p:xfrm>
          <a:off xmlns:a="http://schemas.openxmlformats.org/drawingml/2006/main" x="876300" y="1714500"/>
          <a:ext xmlns:a="http://schemas.openxmlformats.org/drawingml/2006/main" cx="1038225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5191125"/>
              </a:tblGrid>
              <a:tr h="5873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Artifact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Scope / output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T w="9525">
                      <a:solidFill>
                        <a:srgbClr val="C9D4E3"/>
                      </a:solidFill>
                      <a:prstDash val="solid"/>
                    </a:lnT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0753D6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API and wrangling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90-launch teaching modeling snapshot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EDA / feature engineering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90 × 80 feature matrix, 60 positive labels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SQL exploration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101 records, mission and landing outcomes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Folium / Dash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56 launches, four site labels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E9EFF8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Machine learning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3"/>
                      </a:solidFill>
                      <a:prstDash val="solid"/>
                    </a:lnL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3"/>
                          </a:solidFill>
                        </a:rPr>
                        <a:t>72 train / 18 test, random_state = 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3"/>
                      </a:solidFill>
                      <a:prstDash val="solid"/>
                    </a:lnR>
                    <a:lnB w="9525">
                      <a:solidFill>
                        <a:srgbClr val="C9D4E3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3" name="content-3">
            <a:extLst xmlns:a="http://schemas.openxmlformats.org/drawingml/2006/main">
              <a:ext uri="{FF2B5EF4-FFF2-40B4-BE49-F238E27FC236}">
                <a16:creationId xmlns:a16="http://schemas.microsoft.com/office/drawing/2014/main" id="{43CC91CD-978E-4117-849E-B1E1B005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>Different source files can produce different counts without contradiction.</a:t>
            </a: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</p:sld>
</file>

<file path=ppt/slides/slide47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ntent-0">
            <a:extLst xmlns:a="http://schemas.openxmlformats.org/drawingml/2006/main">
              <a:ext uri="{FF2B5EF4-FFF2-40B4-BE49-F238E27FC236}">
                <a16:creationId xmlns:a16="http://schemas.microsoft.com/office/drawing/2014/main" id="{7620599B-F0B9-4501-A362-783873CB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0753D6"/>
                </a:solidFill>
              </a:defRPr>
            </a:defPPr>
            <a:lvl1pPr>
              <a:defRPr sz="3150" b="0">
                <a:solidFill>
                  <a:srgbClr val="0753D6"/>
                </a:solidFill>
              </a:defRPr>
            </a:lvl1pPr>
            <a:lvl2pPr>
              <a:defRPr sz="3150" b="0">
                <a:solidFill>
                  <a:srgbClr val="0753D6"/>
                </a:solidFill>
              </a:defRPr>
            </a:lvl2pPr>
            <a:lvl3pPr>
              <a:defRPr sz="3150" b="0">
                <a:solidFill>
                  <a:srgbClr val="0753D6"/>
                </a:solidFill>
              </a:defRPr>
            </a:lvl3pPr>
            <a:lvl4pPr>
              <a:defRPr sz="3150" b="0">
                <a:solidFill>
                  <a:srgbClr val="0753D6"/>
                </a:solidFill>
              </a:defRPr>
            </a:lvl4pPr>
            <a:lvl5pPr>
              <a:defRPr sz="3150" b="0">
                <a:solidFill>
                  <a:srgbClr val="0753D6"/>
                </a:solidFill>
              </a:defRPr>
            </a:lvl5pPr>
            <a:lvl6pPr>
              <a:defRPr sz="3150" b="0">
                <a:solidFill>
                  <a:srgbClr val="0753D6"/>
                </a:solidFill>
              </a:defRPr>
            </a:lvl6pPr>
            <a:lvl7pPr>
              <a:defRPr sz="3150" b="0">
                <a:solidFill>
                  <a:srgbClr val="0753D6"/>
                </a:solidFill>
              </a:defRPr>
            </a:lvl7pPr>
            <a:lvl8pPr>
              <a:defRPr sz="3150" b="0">
                <a:solidFill>
                  <a:srgbClr val="0753D6"/>
                </a:solidFill>
              </a:defRPr>
            </a:lvl8pPr>
            <a:lvl9pPr>
              <a:defRPr sz="3150" b="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0753D6"/>
                </a:solidFill>
              </a:defRPr>
            </a:pPr>
            <a:r>
              <a:rPr sz="3150" b="0">
                <a:solidFill>
                  <a:srgbClr val="0753D6"/>
                </a:solidFill>
              </a:rPr>
              <a:t/>
            </a:r>
          </a:p>
        </p:txBody>
      </p:sp>
      <p:sp>
        <p:nvSpPr>
          <p:cNvPr id="2" name="content-1">
            <a:extLst xmlns:a="http://schemas.openxmlformats.org/drawingml/2006/main">
              <a:ext uri="{FF2B5EF4-FFF2-40B4-BE49-F238E27FC236}">
                <a16:creationId xmlns:a16="http://schemas.microsoft.com/office/drawing/2014/main" id="{C3076286-0CF3-4F94-AA47-19429AC8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753D6"/>
                </a:solidFill>
              </a:defRPr>
            </a:defPPr>
            <a:lvl1pPr>
              <a:defRPr sz="2550" b="1">
                <a:solidFill>
                  <a:srgbClr val="0753D6"/>
                </a:solidFill>
              </a:defRPr>
            </a:lvl1pPr>
            <a:lvl2pPr>
              <a:defRPr sz="2550" b="1">
                <a:solidFill>
                  <a:srgbClr val="0753D6"/>
                </a:solidFill>
              </a:defRPr>
            </a:lvl2pPr>
            <a:lvl3pPr>
              <a:defRPr sz="2550" b="1">
                <a:solidFill>
                  <a:srgbClr val="0753D6"/>
                </a:solidFill>
              </a:defRPr>
            </a:lvl3pPr>
            <a:lvl4pPr>
              <a:defRPr sz="2550" b="1">
                <a:solidFill>
                  <a:srgbClr val="0753D6"/>
                </a:solidFill>
              </a:defRPr>
            </a:lvl4pPr>
            <a:lvl5pPr>
              <a:defRPr sz="2550" b="1">
                <a:solidFill>
                  <a:srgbClr val="0753D6"/>
                </a:solidFill>
              </a:defRPr>
            </a:lvl5pPr>
            <a:lvl6pPr>
              <a:defRPr sz="2550" b="1">
                <a:solidFill>
                  <a:srgbClr val="0753D6"/>
                </a:solidFill>
              </a:defRPr>
            </a:lvl6pPr>
            <a:lvl7pPr>
              <a:defRPr sz="2550" b="1">
                <a:solidFill>
                  <a:srgbClr val="0753D6"/>
                </a:solidFill>
              </a:defRPr>
            </a:lvl7pPr>
            <a:lvl8pPr>
              <a:defRPr sz="2550" b="1">
                <a:solidFill>
                  <a:srgbClr val="0753D6"/>
                </a:solidFill>
              </a:defRPr>
            </a:lvl8pPr>
            <a:lvl9pPr>
              <a:defRPr sz="2550" b="1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753D6"/>
                </a:solidFill>
              </a:defRPr>
            </a:pPr>
            <a:r>
              <a:rPr sz="2550" b="1">
                <a:solidFill>
                  <a:srgbClr val="0753D6"/>
                </a:solidFill>
              </a:rPr>
              <a:t/>
            </a:r>
          </a:p>
        </p:txBody>
      </p:sp>
      <p:sp>
        <p:nvSpPr>
          <p:cNvPr id="3" name="content-2">
            <a:extLst xmlns:a="http://schemas.openxmlformats.org/drawingml/2006/main">
              <a:ext uri="{FF2B5EF4-FFF2-40B4-BE49-F238E27FC236}">
                <a16:creationId xmlns:a16="http://schemas.microsoft.com/office/drawing/2014/main" id="{DC9C3A49-5E7B-4F62-99FC-AA08650E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0382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B43"/>
                </a:solidFill>
              </a:defRPr>
            </a:defPPr>
            <a:lvl1pPr>
              <a:defRPr sz="2175" b="0">
                <a:solidFill>
                  <a:srgbClr val="182B43"/>
                </a:solidFill>
              </a:defRPr>
            </a:lvl1pPr>
            <a:lvl2pPr>
              <a:defRPr sz="2175" b="0">
                <a:solidFill>
                  <a:srgbClr val="182B43"/>
                </a:solidFill>
              </a:defRPr>
            </a:lvl2pPr>
            <a:lvl3pPr>
              <a:defRPr sz="2175" b="0">
                <a:solidFill>
                  <a:srgbClr val="182B43"/>
                </a:solidFill>
              </a:defRPr>
            </a:lvl3pPr>
            <a:lvl4pPr>
              <a:defRPr sz="2175" b="0">
                <a:solidFill>
                  <a:srgbClr val="182B43"/>
                </a:solidFill>
              </a:defRPr>
            </a:lvl4pPr>
            <a:lvl5pPr>
              <a:defRPr sz="2175" b="0">
                <a:solidFill>
                  <a:srgbClr val="182B43"/>
                </a:solidFill>
              </a:defRPr>
            </a:lvl5pPr>
            <a:lvl6pPr>
              <a:defRPr sz="2175" b="0">
                <a:solidFill>
                  <a:srgbClr val="182B43"/>
                </a:solidFill>
              </a:defRPr>
            </a:lvl6pPr>
            <a:lvl7pPr>
              <a:defRPr sz="2175" b="0">
                <a:solidFill>
                  <a:srgbClr val="182B43"/>
                </a:solidFill>
              </a:defRPr>
            </a:lvl7pPr>
            <a:lvl8pPr>
              <a:defRPr sz="2175" b="0">
                <a:solidFill>
                  <a:srgbClr val="182B43"/>
                </a:solidFill>
              </a:defRPr>
            </a:lvl8pPr>
            <a:lvl9pPr>
              <a:defRPr sz="217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2B43"/>
                </a:solidFill>
              </a:defRPr>
            </a:pPr>
            <a:r>
              <a:rPr sz="2175" b="0">
                <a:solidFill>
                  <a:srgbClr val="182B43"/>
                </a:solidFill>
              </a:rPr>
              <a:t/>
            </a:r>
          </a:p>
        </p:txBody>
      </p:sp>
      <p:sp>
        <p:nvSpPr>
          <p:cNvPr id="4" name="content-3">
            <a:extLst xmlns:a="http://schemas.openxmlformats.org/drawingml/2006/main">
              <a:ext uri="{FF2B5EF4-FFF2-40B4-BE49-F238E27FC236}">
                <a16:creationId xmlns:a16="http://schemas.microsoft.com/office/drawing/2014/main" id="{12D1E9B5-7F0D-4C05-B92D-0CF3DEFE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ABF29-A4E3-4F4A-AD02-324A6B98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>
                <a:solidFill>
                  <a:srgbClr val="0753D6"/>
                </a:solidFill>
                <a:latin typeface="Abadi"/>
                <a:ea typeface="Abadi"/>
                <a:cs typeface="Abadi"/>
              </a:defRPr>
            </a:defPPr>
            <a:lvl1pPr>
              <a:defRPr sz="3150">
                <a:solidFill>
                  <a:srgbClr val="0753D6"/>
                </a:solidFill>
                <a:latin typeface="Abadi"/>
                <a:ea typeface="Abadi"/>
                <a:cs typeface="Abadi"/>
              </a:defRPr>
            </a:lvl1pPr>
            <a:lvl2pPr>
              <a:defRPr sz="3150">
                <a:solidFill>
                  <a:srgbClr val="0753D6"/>
                </a:solidFill>
                <a:latin typeface="Abadi"/>
                <a:ea typeface="Abadi"/>
                <a:cs typeface="Abadi"/>
              </a:defRPr>
            </a:lvl2pPr>
            <a:lvl3pPr>
              <a:defRPr sz="3150">
                <a:solidFill>
                  <a:srgbClr val="0753D6"/>
                </a:solidFill>
                <a:latin typeface="Abadi"/>
                <a:ea typeface="Abadi"/>
                <a:cs typeface="Abadi"/>
              </a:defRPr>
            </a:lvl3pPr>
            <a:lvl4pPr>
              <a:defRPr sz="3150">
                <a:solidFill>
                  <a:srgbClr val="0753D6"/>
                </a:solidFill>
                <a:latin typeface="Abadi"/>
                <a:ea typeface="Abadi"/>
                <a:cs typeface="Abadi"/>
              </a:defRPr>
            </a:lvl4pPr>
            <a:lvl5pPr>
              <a:defRPr sz="3150">
                <a:solidFill>
                  <a:srgbClr val="0753D6"/>
                </a:solidFill>
                <a:latin typeface="Abadi"/>
                <a:ea typeface="Abadi"/>
                <a:cs typeface="Abadi"/>
              </a:defRPr>
            </a:lvl5pPr>
            <a:lvl6pPr>
              <a:defRPr sz="3150">
                <a:solidFill>
                  <a:srgbClr val="0753D6"/>
                </a:solidFill>
                <a:latin typeface="Abadi"/>
                <a:ea typeface="Abadi"/>
                <a:cs typeface="Abadi"/>
              </a:defRPr>
            </a:lvl6pPr>
            <a:lvl7pPr>
              <a:defRPr sz="3150">
                <a:solidFill>
                  <a:srgbClr val="0753D6"/>
                </a:solidFill>
                <a:latin typeface="Abadi"/>
                <a:ea typeface="Abadi"/>
                <a:cs typeface="Abadi"/>
              </a:defRPr>
            </a:lvl7pPr>
            <a:lvl8pPr>
              <a:defRPr sz="3150">
                <a:solidFill>
                  <a:srgbClr val="0753D6"/>
                </a:solidFill>
                <a:latin typeface="Abadi"/>
                <a:ea typeface="Abadi"/>
                <a:cs typeface="Abadi"/>
              </a:defRPr>
            </a:lvl8pPr>
            <a:lvl9pPr>
              <a:defRPr sz="3150">
                <a:solidFill>
                  <a:srgbClr val="0753D6"/>
                </a:solidFill>
                <a:latin typeface="Abadi"/>
                <a:ea typeface="Abadi"/>
                <a:cs typeface="Abadi"/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  <a:latin typeface="Abadi"/>
                <a:ea typeface="Abadi"/>
                <a:cs typeface="Abadi"/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>Acknowledgements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0717B-A313-4643-B301-37E1E5AB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382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182B43"/>
                </a:solidFill>
                <a:latin typeface="Abadi"/>
                <a:ea typeface="Abadi"/>
                <a:cs typeface="Abadi"/>
              </a:defRPr>
            </a:defPPr>
            <a:lvl1pPr>
              <a:defRPr sz="225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1pPr>
            <a:lvl2pPr>
              <a:defRPr sz="225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2pPr>
            <a:lvl3pPr>
              <a:defRPr sz="225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3pPr>
            <a:lvl4pPr>
              <a:defRPr sz="225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4pPr>
            <a:lvl5pPr>
              <a:defRPr sz="225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5pPr>
            <a:lvl6pPr>
              <a:defRPr sz="225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6pPr>
            <a:lvl7pPr>
              <a:defRPr sz="225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7pPr>
            <a:lvl8pPr>
              <a:defRPr sz="225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8pPr>
            <a:lvl9pPr>
              <a:defRPr sz="225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9pPr>
          </a:lstStyle>
          <a:p xmlns:a="http://schemas.openxmlformats.org/drawingml/2006/main">
            <a:pPr>
              <a:defRPr sz="2250">
                <a:solidFill>
                  <a:srgbClr val="182B43"/>
                </a:solidFill>
                <a:latin typeface="Abadi"/>
                <a:ea typeface="Abadi"/>
                <a:cs typeface="Abadi"/>
              </a:defRPr>
            </a:pPr>
            <a:r>
              <a:rPr sz="2250">
                <a:solidFill>
                  <a:srgbClr val="182B43"/>
                </a:solidFill>
                <a:latin typeface="Abadi"/>
                <a:ea typeface="Abadi"/>
                <a:cs typeface="Abadi"/>
              </a:rPr>
              <a:t>IBM Skills Network supplied the capstone labs, teaching datasets and presentation template.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>
                <a:solidFill>
                  <a:srgbClr val="182B43"/>
                </a:solidFill>
                <a:latin typeface="Abadi"/>
                <a:ea typeface="Abadi"/>
                <a:cs typeface="Abadi"/>
              </a:defRPr>
            </a:pPr>
            <a:r>
              <a:rPr sz="2250">
                <a:solidFill>
                  <a:srgbClr val="182B43"/>
                </a:solidFill>
                <a:latin typeface="Abadi"/>
                <a:ea typeface="Abadi"/>
                <a:cs typeface="Abadi"/>
              </a:rPr>
              <a:t>Analysis, completed code and interpretation:</a:t>
            </a:r>
          </a:p>
          <a:p xmlns:a="http://schemas.openxmlformats.org/drawingml/2006/main">
            <a:pPr>
              <a:defRPr sz="2250">
                <a:solidFill>
                  <a:srgbClr val="182B43"/>
                </a:solidFill>
                <a:latin typeface="Abadi"/>
                <a:ea typeface="Abadi"/>
                <a:cs typeface="Abadi"/>
              </a:defRPr>
            </a:pPr>
            <a:r>
              <a:rPr sz="2250">
                <a:solidFill>
                  <a:srgbClr val="182B43"/>
                </a:solidFill>
                <a:latin typeface="Abadi"/>
                <a:ea typeface="Abadi"/>
                <a:cs typeface="Abadi"/>
              </a:rPr>
              <a:t>Emmanuel BONKOUNGOU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>
                <a:solidFill>
                  <a:srgbClr val="182B43"/>
                </a:solidFill>
                <a:latin typeface="Abadi"/>
                <a:ea typeface="Abadi"/>
                <a:cs typeface="Abadi"/>
              </a:defRPr>
            </a:pPr>
            <a:r>
              <a:rPr sz="2250">
                <a:solidFill>
                  <a:srgbClr val="182B43"/>
                </a:solidFill>
                <a:latin typeface="Abadi"/>
                <a:ea typeface="Abadi"/>
                <a:cs typeface="Abadi"/>
              </a:rPr>
              <a:t>Technical appendices follow.</a:t>
            </a:r>
          </a:p>
        </p:txBody>
      </p:sp>
    </p:spTree>
    <p:extLst>
      <p:ext uri="{BB962C8B-B14F-4D97-AF65-F5344CB8AC3E}">
        <p14:creationId xmlns:p14="http://schemas.microsoft.com/office/powerpoint/2010/main" val="661040741"/>
      </p:ext>
    </p:extLst>
  </p:cSld>
</p:sld>
</file>

<file path=ppt/slides/slide48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/>
          </a:p>
        </p:txBody>
      </p:sp>
      <p:sp>
        <p:nvSpPr>
          <p:cNvPr id="5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1" y="1859522"/>
            <a:ext cx="10515600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/>
            </a:r>
            <a:endParaRPr>
              <a:solidFill>
                <a:srgbClr val="0B49CB"/>
              </a:solidFill>
            </a:endParaRPr>
          </a:p>
        </p:txBody>
      </p:sp>
      <p:sp>
        <p:nvSpPr>
          <p:cNvPr id="13" name="content-3">
            <a:extLst xmlns:a="http://schemas.openxmlformats.org/drawingml/2006/main">
              <a:ext uri="{FF2B5EF4-FFF2-40B4-BE49-F238E27FC236}">
                <a16:creationId xmlns:a16="http://schemas.microsoft.com/office/drawing/2014/main" id="{43CC91CD-978E-4117-849E-B1E1B005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/>
            </a:r>
          </a:p>
        </p:txBody>
      </p:sp>
      <p:sp>
        <p:nvSpPr>
          <p:cNvPr id="14" name="content-4">
            <a:extLst xmlns:a="http://schemas.openxmlformats.org/drawingml/2006/main">
              <a:ext uri="{FF2B5EF4-FFF2-40B4-BE49-F238E27FC236}">
                <a16:creationId xmlns:a16="http://schemas.microsoft.com/office/drawing/2014/main" id="{95B45A89-7D55-4F63-9F53-C6E4FFAF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0753D6"/>
                </a:solidFill>
              </a:defRPr>
            </a:defPPr>
            <a:lvl1pPr>
              <a:defRPr sz="2850" b="0">
                <a:solidFill>
                  <a:srgbClr val="0753D6"/>
                </a:solidFill>
              </a:defRPr>
            </a:lvl1pPr>
            <a:lvl2pPr>
              <a:defRPr sz="2850" b="0">
                <a:solidFill>
                  <a:srgbClr val="0753D6"/>
                </a:solidFill>
              </a:defRPr>
            </a:lvl2pPr>
            <a:lvl3pPr>
              <a:defRPr sz="2850" b="0">
                <a:solidFill>
                  <a:srgbClr val="0753D6"/>
                </a:solidFill>
              </a:defRPr>
            </a:lvl3pPr>
            <a:lvl4pPr>
              <a:defRPr sz="2850" b="0">
                <a:solidFill>
                  <a:srgbClr val="0753D6"/>
                </a:solidFill>
              </a:defRPr>
            </a:lvl4pPr>
            <a:lvl5pPr>
              <a:defRPr sz="2850" b="0">
                <a:solidFill>
                  <a:srgbClr val="0753D6"/>
                </a:solidFill>
              </a:defRPr>
            </a:lvl5pPr>
            <a:lvl6pPr>
              <a:defRPr sz="2850" b="0">
                <a:solidFill>
                  <a:srgbClr val="0753D6"/>
                </a:solidFill>
              </a:defRPr>
            </a:lvl6pPr>
            <a:lvl7pPr>
              <a:defRPr sz="2850" b="0">
                <a:solidFill>
                  <a:srgbClr val="0753D6"/>
                </a:solidFill>
              </a:defRPr>
            </a:lvl7pPr>
            <a:lvl8pPr>
              <a:defRPr sz="2850" b="0">
                <a:solidFill>
                  <a:srgbClr val="0753D6"/>
                </a:solidFill>
              </a:defRPr>
            </a:lvl8pPr>
            <a:lvl9pPr>
              <a:defRPr sz="2850" b="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0753D6"/>
                </a:solidFill>
              </a:defRPr>
            </a:pPr>
            <a:r>
              <a:rPr sz="2850" b="0">
                <a:solidFill>
                  <a:srgbClr val="0753D6"/>
                </a:solidFill>
              </a:rPr>
              <a:t>Appendix: Hyperparameter Search</a:t>
            </a:r>
          </a:p>
        </p:txBody>
      </p:sp>
      <p:sp>
        <p:nvSpPr>
          <p:cNvPr id="15" name="content-5">
            <a:extLst xmlns:a="http://schemas.openxmlformats.org/drawingml/2006/main">
              <a:ext uri="{FF2B5EF4-FFF2-40B4-BE49-F238E27FC236}">
                <a16:creationId xmlns:a16="http://schemas.microsoft.com/office/drawing/2014/main" id="{B8AC9B58-7202-445B-8399-4952AFC3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38225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3"/>
                </a:solidFill>
              </a:defRPr>
            </a:defPPr>
            <a:lvl1pPr>
              <a:defRPr sz="1875" b="0">
                <a:solidFill>
                  <a:srgbClr val="182B43"/>
                </a:solidFill>
              </a:defRPr>
            </a:lvl1pPr>
            <a:lvl2pPr>
              <a:defRPr sz="1875" b="0">
                <a:solidFill>
                  <a:srgbClr val="182B43"/>
                </a:solidFill>
              </a:defRPr>
            </a:lvl2pPr>
            <a:lvl3pPr>
              <a:defRPr sz="1875" b="0">
                <a:solidFill>
                  <a:srgbClr val="182B43"/>
                </a:solidFill>
              </a:defRPr>
            </a:lvl3pPr>
            <a:lvl4pPr>
              <a:defRPr sz="1875" b="0">
                <a:solidFill>
                  <a:srgbClr val="182B43"/>
                </a:solidFill>
              </a:defRPr>
            </a:lvl4pPr>
            <a:lvl5pPr>
              <a:defRPr sz="1875" b="0">
                <a:solidFill>
                  <a:srgbClr val="182B43"/>
                </a:solidFill>
              </a:defRPr>
            </a:lvl5pPr>
            <a:lvl6pPr>
              <a:defRPr sz="1875" b="0">
                <a:solidFill>
                  <a:srgbClr val="182B43"/>
                </a:solidFill>
              </a:defRPr>
            </a:lvl6pPr>
            <a:lvl7pPr>
              <a:defRPr sz="1875" b="0">
                <a:solidFill>
                  <a:srgbClr val="182B43"/>
                </a:solidFill>
              </a:defRPr>
            </a:lvl7pPr>
            <a:lvl8pPr>
              <a:defRPr sz="1875" b="0">
                <a:solidFill>
                  <a:srgbClr val="182B43"/>
                </a:solidFill>
              </a:defRPr>
            </a:lvl8pPr>
            <a:lvl9pPr>
              <a:defRPr sz="1875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Logistic regression: C = 0.01, 0.1, 1. L2 penalty, lbfgs solver.</a:t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SVM: linear, rbf, poly, sigmoid. Five C and gamma values from 10^-3 to 10^3. Best: sigmoid, C = 1, gamma = 0.03162.</a:t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Tree: gini / entropy, best / random splits, depths 2–18, sqrt features, leaf sizes 1/2/4, split sizes 2/5/10. Best: gini, depth 8, leaf 2, split 10.</a:t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</a:defRPr>
            </a:pPr>
            <a:r>
              <a:rPr sz="1875" b="0">
                <a:solidFill>
                  <a:srgbClr val="182B43"/>
                </a:solidFill>
              </a:rPr>
              <a:t>KNN: k = 1–10, four algorithms, p = 1 or 2. Best: k = 10, p = 1, auto.</a:t>
            </a: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</p:sld>
</file>

<file path=ppt/slides/slide49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/>
          </a:p>
        </p:txBody>
      </p:sp>
      <p:sp>
        <p:nvSpPr>
          <p:cNvPr id="5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1" y="1859522"/>
            <a:ext cx="10515600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/>
            </a:r>
            <a:endParaRPr>
              <a:solidFill>
                <a:srgbClr val="0B49CB"/>
              </a:solidFill>
            </a:endParaRPr>
          </a:p>
        </p:txBody>
      </p:sp>
      <p:sp>
        <p:nvSpPr>
          <p:cNvPr id="13" name="content-3">
            <a:extLst xmlns:a="http://schemas.openxmlformats.org/drawingml/2006/main">
              <a:ext uri="{FF2B5EF4-FFF2-40B4-BE49-F238E27FC236}">
                <a16:creationId xmlns:a16="http://schemas.microsoft.com/office/drawing/2014/main" id="{43CC91CD-978E-4117-849E-B1E1B005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/>
            </a:r>
          </a:p>
        </p:txBody>
      </p:sp>
      <p:sp>
        <p:nvSpPr>
          <p:cNvPr id="14" name="content-4">
            <a:extLst xmlns:a="http://schemas.openxmlformats.org/drawingml/2006/main">
              <a:ext uri="{FF2B5EF4-FFF2-40B4-BE49-F238E27FC236}">
                <a16:creationId xmlns:a16="http://schemas.microsoft.com/office/drawing/2014/main" id="{F50B3E0A-F943-47CA-B83C-61516944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0753D6"/>
                </a:solidFill>
              </a:defRPr>
            </a:defPPr>
            <a:lvl1pPr>
              <a:defRPr sz="2850" b="0">
                <a:solidFill>
                  <a:srgbClr val="0753D6"/>
                </a:solidFill>
              </a:defRPr>
            </a:lvl1pPr>
            <a:lvl2pPr>
              <a:defRPr sz="2850" b="0">
                <a:solidFill>
                  <a:srgbClr val="0753D6"/>
                </a:solidFill>
              </a:defRPr>
            </a:lvl2pPr>
            <a:lvl3pPr>
              <a:defRPr sz="2850" b="0">
                <a:solidFill>
                  <a:srgbClr val="0753D6"/>
                </a:solidFill>
              </a:defRPr>
            </a:lvl3pPr>
            <a:lvl4pPr>
              <a:defRPr sz="2850" b="0">
                <a:solidFill>
                  <a:srgbClr val="0753D6"/>
                </a:solidFill>
              </a:defRPr>
            </a:lvl4pPr>
            <a:lvl5pPr>
              <a:defRPr sz="2850" b="0">
                <a:solidFill>
                  <a:srgbClr val="0753D6"/>
                </a:solidFill>
              </a:defRPr>
            </a:lvl5pPr>
            <a:lvl6pPr>
              <a:defRPr sz="2850" b="0">
                <a:solidFill>
                  <a:srgbClr val="0753D6"/>
                </a:solidFill>
              </a:defRPr>
            </a:lvl6pPr>
            <a:lvl7pPr>
              <a:defRPr sz="2850" b="0">
                <a:solidFill>
                  <a:srgbClr val="0753D6"/>
                </a:solidFill>
              </a:defRPr>
            </a:lvl7pPr>
            <a:lvl8pPr>
              <a:defRPr sz="2850" b="0">
                <a:solidFill>
                  <a:srgbClr val="0753D6"/>
                </a:solidFill>
              </a:defRPr>
            </a:lvl8pPr>
            <a:lvl9pPr>
              <a:defRPr sz="2850" b="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0753D6"/>
                </a:solidFill>
              </a:defRPr>
            </a:pPr>
            <a:r>
              <a:rPr sz="2850" b="0">
                <a:solidFill>
                  <a:srgbClr val="0753D6"/>
                </a:solidFill>
              </a:rPr>
              <a:t>Innovative Insights and Evaluation Risks</a:t>
            </a:r>
          </a:p>
        </p:txBody>
      </p:sp>
      <p:sp>
        <p:nvSpPr>
          <p:cNvPr id="15" name="content-5">
            <a:extLst xmlns:a="http://schemas.openxmlformats.org/drawingml/2006/main">
              <a:ext uri="{FF2B5EF4-FFF2-40B4-BE49-F238E27FC236}">
                <a16:creationId xmlns:a16="http://schemas.microsoft.com/office/drawing/2014/main" id="{3194E060-CD3A-4507-B1E2-F992C13B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38225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3"/>
                </a:solidFill>
              </a:defRPr>
            </a:defPPr>
            <a:lvl1pPr>
              <a:defRPr sz="1950" b="0">
                <a:solidFill>
                  <a:srgbClr val="182B43"/>
                </a:solidFill>
              </a:defRPr>
            </a:lvl1pPr>
            <a:lvl2pPr>
              <a:defRPr sz="1950" b="0">
                <a:solidFill>
                  <a:srgbClr val="182B43"/>
                </a:solidFill>
              </a:defRPr>
            </a:lvl2pPr>
            <a:lvl3pPr>
              <a:defRPr sz="1950" b="0">
                <a:solidFill>
                  <a:srgbClr val="182B43"/>
                </a:solidFill>
              </a:defRPr>
            </a:lvl3pPr>
            <a:lvl4pPr>
              <a:defRPr sz="1950" b="0">
                <a:solidFill>
                  <a:srgbClr val="182B43"/>
                </a:solidFill>
              </a:defRPr>
            </a:lvl4pPr>
            <a:lvl5pPr>
              <a:defRPr sz="1950" b="0">
                <a:solidFill>
                  <a:srgbClr val="182B43"/>
                </a:solidFill>
              </a:defRPr>
            </a:lvl5pPr>
            <a:lvl6pPr>
              <a:defRPr sz="1950" b="0">
                <a:solidFill>
                  <a:srgbClr val="182B43"/>
                </a:solidFill>
              </a:defRPr>
            </a:lvl6pPr>
            <a:lvl7pPr>
              <a:defRPr sz="1950" b="0">
                <a:solidFill>
                  <a:srgbClr val="182B43"/>
                </a:solidFill>
              </a:defRPr>
            </a:lvl7pPr>
            <a:lvl8pPr>
              <a:defRPr sz="1950" b="0">
                <a:solidFill>
                  <a:srgbClr val="182B43"/>
                </a:solidFill>
              </a:defRPr>
            </a:lvl8pPr>
            <a:lvl9pPr>
              <a:defRPr sz="1950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B43"/>
                </a:solidFill>
              </a:defRPr>
            </a:pPr>
            <a:r>
              <a:rPr sz="1950" b="0">
                <a:solidFill>
                  <a:srgbClr val="182B43"/>
                </a:solidFill>
              </a:rPr>
              <a:t>15/18 correct yields an approximate 95% Wilson accuracy interval of 60.8%–94.2%. One case changes accuracy by 5.56 points.</a:t>
            </a:r>
          </a:p>
          <a:p xmlns:a="http://schemas.openxmlformats.org/drawingml/2006/main">
            <a:pPr>
              <a:defRPr sz="1950" b="0">
                <a:solidFill>
                  <a:srgbClr val="182B43"/>
                </a:solidFill>
              </a:defRPr>
            </a:pPr>
            <a:r>
              <a:rPr sz="1950" b="0">
                <a:solidFill>
                  <a:srgbClr val="182B43"/>
                </a:solidFill>
              </a:rPr>
              <a:t>The majority baseline is 12/18 (66.7%). Models improve by three correct predictions on this small test.</a:t>
            </a:r>
          </a:p>
          <a:p xmlns:a="http://schemas.openxmlformats.org/drawingml/2006/main">
            <a:pPr>
              <a:defRPr sz="1950" b="0">
                <a:solidFill>
                  <a:srgbClr val="182B43"/>
                </a:solidFill>
              </a:defRPr>
            </a:pPr>
            <a:r>
              <a:rPr sz="1950" b="0">
                <a:solidFill>
                  <a:srgbClr val="182B43"/>
                </a:solidFill>
              </a:rPr>
              <a:t>83 predictors versus 72 training records increases overfitting risk. Serial indicators may encode identity and time.</a:t>
            </a:r>
          </a:p>
          <a:p xmlns:a="http://schemas.openxmlformats.org/drawingml/2006/main">
            <a:pPr>
              <a:defRPr sz="1950" b="0">
                <a:solidFill>
                  <a:srgbClr val="182B43"/>
                </a:solidFill>
              </a:defRPr>
            </a:pPr>
            <a:r>
              <a:rPr sz="1950" b="0">
                <a:solidFill>
                  <a:srgbClr val="182B43"/>
                </a:solidFill>
              </a:rPr>
              <a:t>True Ocean counts as a positive lab label, while reusable recovery needs a stricter target. Current API reuse counts need an as-of-launch audit.</a:t>
            </a: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</p:sld>
</file>

<file path=ppt/slides/slide50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/>
          </a:p>
        </p:txBody>
      </p:sp>
      <p:sp>
        <p:nvSpPr>
          <p:cNvPr id="5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1" y="1859522"/>
            <a:ext cx="10515600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/>
            </a:r>
            <a:endParaRPr>
              <a:solidFill>
                <a:srgbClr val="0B49CB"/>
              </a:solidFill>
            </a:endParaRPr>
          </a:p>
        </p:txBody>
      </p:sp>
      <p:sp>
        <p:nvSpPr>
          <p:cNvPr id="13" name="content-3">
            <a:extLst xmlns:a="http://schemas.openxmlformats.org/drawingml/2006/main">
              <a:ext uri="{FF2B5EF4-FFF2-40B4-BE49-F238E27FC236}">
                <a16:creationId xmlns:a16="http://schemas.microsoft.com/office/drawing/2014/main" id="{43CC91CD-978E-4117-849E-B1E1B005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/>
            </a:r>
          </a:p>
        </p:txBody>
      </p:sp>
      <p:sp>
        <p:nvSpPr>
          <p:cNvPr id="14" name="content-4">
            <a:extLst xmlns:a="http://schemas.openxmlformats.org/drawingml/2006/main">
              <a:ext uri="{FF2B5EF4-FFF2-40B4-BE49-F238E27FC236}">
                <a16:creationId xmlns:a16="http://schemas.microsoft.com/office/drawing/2014/main" id="{51D8AE9B-A699-40D1-A9B7-1D8B0AFD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0753D6"/>
                </a:solidFill>
              </a:defRPr>
            </a:defPPr>
            <a:lvl1pPr>
              <a:defRPr sz="2850" b="0">
                <a:solidFill>
                  <a:srgbClr val="0753D6"/>
                </a:solidFill>
              </a:defRPr>
            </a:lvl1pPr>
            <a:lvl2pPr>
              <a:defRPr sz="2850" b="0">
                <a:solidFill>
                  <a:srgbClr val="0753D6"/>
                </a:solidFill>
              </a:defRPr>
            </a:lvl2pPr>
            <a:lvl3pPr>
              <a:defRPr sz="2850" b="0">
                <a:solidFill>
                  <a:srgbClr val="0753D6"/>
                </a:solidFill>
              </a:defRPr>
            </a:lvl3pPr>
            <a:lvl4pPr>
              <a:defRPr sz="2850" b="0">
                <a:solidFill>
                  <a:srgbClr val="0753D6"/>
                </a:solidFill>
              </a:defRPr>
            </a:lvl4pPr>
            <a:lvl5pPr>
              <a:defRPr sz="2850" b="0">
                <a:solidFill>
                  <a:srgbClr val="0753D6"/>
                </a:solidFill>
              </a:defRPr>
            </a:lvl5pPr>
            <a:lvl6pPr>
              <a:defRPr sz="2850" b="0">
                <a:solidFill>
                  <a:srgbClr val="0753D6"/>
                </a:solidFill>
              </a:defRPr>
            </a:lvl6pPr>
            <a:lvl7pPr>
              <a:defRPr sz="2850" b="0">
                <a:solidFill>
                  <a:srgbClr val="0753D6"/>
                </a:solidFill>
              </a:defRPr>
            </a:lvl7pPr>
            <a:lvl8pPr>
              <a:defRPr sz="2850" b="0">
                <a:solidFill>
                  <a:srgbClr val="0753D6"/>
                </a:solidFill>
              </a:defRPr>
            </a:lvl8pPr>
            <a:lvl9pPr>
              <a:defRPr sz="2850" b="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0753D6"/>
                </a:solidFill>
              </a:defRPr>
            </a:pPr>
            <a:r>
              <a:rPr sz="2850" b="0">
                <a:solidFill>
                  <a:srgbClr val="0753D6"/>
                </a:solidFill>
              </a:rPr>
              <a:t>Appendix: Source Files and References</a:t>
            </a:r>
          </a:p>
        </p:txBody>
      </p:sp>
      <p:sp>
        <p:nvSpPr>
          <p:cNvPr id="15" name="content-5">
            <a:extLst xmlns:a="http://schemas.openxmlformats.org/drawingml/2006/main">
              <a:ext uri="{FF2B5EF4-FFF2-40B4-BE49-F238E27FC236}">
                <a16:creationId xmlns:a16="http://schemas.microsoft.com/office/drawing/2014/main" id="{DC44F4A9-5998-4A1C-994E-AAEC70AD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38225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3"/>
                </a:solidFill>
              </a:defRPr>
            </a:defPPr>
            <a:lvl1pPr>
              <a:defRPr sz="1950" b="0">
                <a:solidFill>
                  <a:srgbClr val="182B43"/>
                </a:solidFill>
              </a:defRPr>
            </a:lvl1pPr>
            <a:lvl2pPr>
              <a:defRPr sz="1950" b="0">
                <a:solidFill>
                  <a:srgbClr val="182B43"/>
                </a:solidFill>
              </a:defRPr>
            </a:lvl2pPr>
            <a:lvl3pPr>
              <a:defRPr sz="1950" b="0">
                <a:solidFill>
                  <a:srgbClr val="182B43"/>
                </a:solidFill>
              </a:defRPr>
            </a:lvl3pPr>
            <a:lvl4pPr>
              <a:defRPr sz="1950" b="0">
                <a:solidFill>
                  <a:srgbClr val="182B43"/>
                </a:solidFill>
              </a:defRPr>
            </a:lvl4pPr>
            <a:lvl5pPr>
              <a:defRPr sz="1950" b="0">
                <a:solidFill>
                  <a:srgbClr val="182B43"/>
                </a:solidFill>
              </a:defRPr>
            </a:lvl5pPr>
            <a:lvl6pPr>
              <a:defRPr sz="1950" b="0">
                <a:solidFill>
                  <a:srgbClr val="182B43"/>
                </a:solidFill>
              </a:defRPr>
            </a:lvl6pPr>
            <a:lvl7pPr>
              <a:defRPr sz="1950" b="0">
                <a:solidFill>
                  <a:srgbClr val="182B43"/>
                </a:solidFill>
              </a:defRPr>
            </a:lvl7pPr>
            <a:lvl8pPr>
              <a:defRPr sz="1950" b="0">
                <a:solidFill>
                  <a:srgbClr val="182B43"/>
                </a:solidFill>
              </a:defRPr>
            </a:lvl8pPr>
            <a:lvl9pPr>
              <a:defRPr sz="1950" b="0">
                <a:solidFill>
                  <a:srgbClr val="182B4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B43"/>
                </a:solidFill>
              </a:defRPr>
            </a:pPr>
            <a:r>
              <a:rPr sz="1950" b="0">
                <a:solidFill>
                  <a:srgbClr val="182B43"/>
                </a:solidFill>
              </a:rPr>
              <a:t>IBM Skills Network course template and completed capstone notebooks.</a:t>
            </a:r>
          </a:p>
          <a:p xmlns:a="http://schemas.openxmlformats.org/drawingml/2006/main">
            <a:pPr>
              <a:defRPr sz="1950" b="0">
                <a:solidFill>
                  <a:srgbClr val="182B43"/>
                </a:solidFill>
              </a:defRPr>
            </a:pPr>
            <a:r>
              <a:rPr sz="1950" b="0">
                <a:solidFill>
                  <a:srgbClr val="182B43"/>
                </a:solidFill>
              </a:rPr>
              <a:t>Modeling: datasets/dataset_part_2.csv and dataset_part_3.csv.</a:t>
            </a:r>
          </a:p>
          <a:p xmlns:a="http://schemas.openxmlformats.org/drawingml/2006/main">
            <a:pPr>
              <a:defRPr sz="1950" b="0">
                <a:solidFill>
                  <a:srgbClr val="182B43"/>
                </a:solidFill>
              </a:defRPr>
            </a:pPr>
            <a:r>
              <a:rPr sz="1950" b="0">
                <a:solidFill>
                  <a:srgbClr val="182B43"/>
                </a:solidFill>
              </a:rPr>
              <a:t>Interactive analytics: datasets/spacex_launch_geo.csv and spacex_launch_dash.csv.</a:t>
            </a:r>
          </a:p>
          <a:p xmlns:a="http://schemas.openxmlformats.org/drawingml/2006/main">
            <a:pPr>
              <a:defRPr sz="1950" b="0">
                <a:solidFill>
                  <a:srgbClr val="182B43"/>
                </a:solidFill>
              </a:defRPr>
            </a:pPr>
            <a:r>
              <a:rPr sz="1950" b="0">
                <a:solidFill>
                  <a:srgbClr val="182B43"/>
                </a:solidFill>
              </a:rPr>
              <a:t>SQL: labs/module_2/data/Spacex.csv.</a:t>
            </a:r>
          </a:p>
          <a:p xmlns:a="http://schemas.openxmlformats.org/drawingml/2006/main">
            <a:pPr>
              <a:defRPr sz="1950" b="0">
                <a:solidFill>
                  <a:srgbClr val="182B43"/>
                </a:solidFill>
              </a:defRPr>
            </a:pPr>
            <a:r>
              <a:rPr sz="1950" b="0">
                <a:solidFill>
                  <a:srgbClr val="182B43"/>
                </a:solidFill>
              </a:rPr>
              <a:t>Base URL: https://cf-courses-data.s3.us.cloud-object-storage.appdomain.cloud/IBM-DS0321EN-SkillsNetwork/</a:t>
            </a:r>
          </a:p>
          <a:p xmlns:a="http://schemas.openxmlformats.org/drawingml/2006/main">
            <a:pPr>
              <a:defRPr sz="1950" b="0">
                <a:solidFill>
                  <a:srgbClr val="182B43"/>
                </a:solidFill>
              </a:defRPr>
            </a:pPr>
            <a:r>
              <a:rPr sz="1950" b="0">
                <a:solidFill>
                  <a:srgbClr val="182B43"/>
                </a:solidFill>
              </a:rPr>
              <a:t>Maps: OpenStreetMap contributors. All claims refer to historical teaching snapshots.</a:t>
            </a: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</p:sld>
</file>

<file path=ppt/slides/slide51.xml><?xml version="1.0" encoding="utf-8"?>
<p:sld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/>
          </a:p>
        </p:txBody>
      </p:sp>
      <p:sp>
        <p:nvSpPr>
          <p:cNvPr id="5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1" y="1859522"/>
            <a:ext cx="10515600" cy="4351338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defPPr>
              <a:defRPr sz="3150">
                <a:solidFill>
                  <a:srgbClr val="0753D6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  <a:lvl2pPr>
              <a:defRPr sz="3150">
                <a:solidFill>
                  <a:srgbClr val="0753D6"/>
                </a:solidFill>
              </a:defRPr>
            </a:lvl2pPr>
            <a:lvl3pPr>
              <a:defRPr sz="3150">
                <a:solidFill>
                  <a:srgbClr val="0753D6"/>
                </a:solidFill>
              </a:defRPr>
            </a:lvl3pPr>
            <a:lvl4pPr>
              <a:defRPr sz="3150">
                <a:solidFill>
                  <a:srgbClr val="0753D6"/>
                </a:solidFill>
              </a:defRPr>
            </a:lvl4pPr>
            <a:lvl5pPr>
              <a:defRPr sz="3150">
                <a:solidFill>
                  <a:srgbClr val="0753D6"/>
                </a:solidFill>
              </a:defRPr>
            </a:lvl5pPr>
            <a:lvl6pPr>
              <a:defRPr sz="3150">
                <a:solidFill>
                  <a:srgbClr val="0753D6"/>
                </a:solidFill>
              </a:defRPr>
            </a:lvl6pPr>
            <a:lvl7pPr>
              <a:defRPr sz="3150">
                <a:solidFill>
                  <a:srgbClr val="0753D6"/>
                </a:solidFill>
              </a:defRPr>
            </a:lvl7pPr>
            <a:lvl8pPr>
              <a:defRPr sz="3150">
                <a:solidFill>
                  <a:srgbClr val="0753D6"/>
                </a:solidFill>
              </a:defRPr>
            </a:lvl8pPr>
            <a:lvl9pPr>
              <a:defRPr sz="3150">
                <a:solidFill>
                  <a:srgbClr val="0753D6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0753D6"/>
                </a:solidFill>
              </a:defRPr>
            </a:pPr>
            <a:r>
              <a:rPr sz="3150">
                <a:solidFill>
                  <a:srgbClr val="0753D6"/>
                </a:solidFill>
                <a:latin typeface="Abadi"/>
                <a:ea typeface="Abadi"/>
                <a:cs typeface="Abadi"/>
              </a:rPr>
              <a:t/>
            </a:r>
            <a:endParaRPr>
              <a:solidFill>
                <a:srgbClr val="0B49CB"/>
              </a:solidFill>
            </a:endParaRPr>
          </a:p>
        </p:txBody>
      </p:sp>
      <p:sp>
        <p:nvSpPr>
          <p:cNvPr id="13" name="content-3">
            <a:extLst xmlns:a="http://schemas.openxmlformats.org/drawingml/2006/main">
              <a:ext uri="{FF2B5EF4-FFF2-40B4-BE49-F238E27FC236}">
                <a16:creationId xmlns:a16="http://schemas.microsoft.com/office/drawing/2014/main" id="{43CC91CD-978E-4117-849E-B1E1B005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65973"/>
                </a:solidFill>
              </a:defRPr>
            </a:defPPr>
            <a:lvl1pPr>
              <a:defRPr sz="1275" b="0">
                <a:solidFill>
                  <a:srgbClr val="465973"/>
                </a:solidFill>
              </a:defRPr>
            </a:lvl1pPr>
            <a:lvl2pPr>
              <a:defRPr sz="1275" b="0">
                <a:solidFill>
                  <a:srgbClr val="465973"/>
                </a:solidFill>
              </a:defRPr>
            </a:lvl2pPr>
            <a:lvl3pPr>
              <a:defRPr sz="1275" b="0">
                <a:solidFill>
                  <a:srgbClr val="465973"/>
                </a:solidFill>
              </a:defRPr>
            </a:lvl3pPr>
            <a:lvl4pPr>
              <a:defRPr sz="1275" b="0">
                <a:solidFill>
                  <a:srgbClr val="465973"/>
                </a:solidFill>
              </a:defRPr>
            </a:lvl4pPr>
            <a:lvl5pPr>
              <a:defRPr sz="1275" b="0">
                <a:solidFill>
                  <a:srgbClr val="465973"/>
                </a:solidFill>
              </a:defRPr>
            </a:lvl5pPr>
            <a:lvl6pPr>
              <a:defRPr sz="1275" b="0">
                <a:solidFill>
                  <a:srgbClr val="465973"/>
                </a:solidFill>
              </a:defRPr>
            </a:lvl6pPr>
            <a:lvl7pPr>
              <a:defRPr sz="1275" b="0">
                <a:solidFill>
                  <a:srgbClr val="465973"/>
                </a:solidFill>
              </a:defRPr>
            </a:lvl7pPr>
            <a:lvl8pPr>
              <a:defRPr sz="1275" b="0">
                <a:solidFill>
                  <a:srgbClr val="465973"/>
                </a:solidFill>
              </a:defRPr>
            </a:lvl8pPr>
            <a:lvl9pPr>
              <a:defRPr sz="1275" b="0">
                <a:solidFill>
                  <a:srgbClr val="4659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65973"/>
                </a:solidFill>
              </a:defRPr>
            </a:pPr>
            <a:r>
              <a:rPr sz="1275" b="0">
                <a:solidFill>
                  <a:srgbClr val="465973"/>
                </a:solidFill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322598-7917-4284-BE94-520F22B8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0753D6"/>
                </a:solidFill>
                <a:latin typeface="Abadi"/>
                <a:ea typeface="Abadi"/>
                <a:cs typeface="Abadi"/>
              </a:defRPr>
            </a:defPPr>
            <a:lvl1pPr>
              <a:defRPr sz="3000" b="0">
                <a:solidFill>
                  <a:srgbClr val="0753D6"/>
                </a:solidFill>
                <a:latin typeface="Abadi"/>
                <a:ea typeface="Abadi"/>
                <a:cs typeface="Abadi"/>
              </a:defRPr>
            </a:lvl1pPr>
            <a:lvl2pPr>
              <a:defRPr sz="3000" b="0">
                <a:solidFill>
                  <a:srgbClr val="0753D6"/>
                </a:solidFill>
                <a:latin typeface="Abadi"/>
                <a:ea typeface="Abadi"/>
                <a:cs typeface="Abadi"/>
              </a:defRPr>
            </a:lvl2pPr>
            <a:lvl3pPr>
              <a:defRPr sz="3000" b="0">
                <a:solidFill>
                  <a:srgbClr val="0753D6"/>
                </a:solidFill>
                <a:latin typeface="Abadi"/>
                <a:ea typeface="Abadi"/>
                <a:cs typeface="Abadi"/>
              </a:defRPr>
            </a:lvl3pPr>
            <a:lvl4pPr>
              <a:defRPr sz="3000" b="0">
                <a:solidFill>
                  <a:srgbClr val="0753D6"/>
                </a:solidFill>
                <a:latin typeface="Abadi"/>
                <a:ea typeface="Abadi"/>
                <a:cs typeface="Abadi"/>
              </a:defRPr>
            </a:lvl4pPr>
            <a:lvl5pPr>
              <a:defRPr sz="3000" b="0">
                <a:solidFill>
                  <a:srgbClr val="0753D6"/>
                </a:solidFill>
                <a:latin typeface="Abadi"/>
                <a:ea typeface="Abadi"/>
                <a:cs typeface="Abadi"/>
              </a:defRPr>
            </a:lvl5pPr>
            <a:lvl6pPr>
              <a:defRPr sz="3000" b="0">
                <a:solidFill>
                  <a:srgbClr val="0753D6"/>
                </a:solidFill>
                <a:latin typeface="Abadi"/>
                <a:ea typeface="Abadi"/>
                <a:cs typeface="Abadi"/>
              </a:defRPr>
            </a:lvl6pPr>
            <a:lvl7pPr>
              <a:defRPr sz="3000" b="0">
                <a:solidFill>
                  <a:srgbClr val="0753D6"/>
                </a:solidFill>
                <a:latin typeface="Abadi"/>
                <a:ea typeface="Abadi"/>
                <a:cs typeface="Abadi"/>
              </a:defRPr>
            </a:lvl7pPr>
            <a:lvl8pPr>
              <a:defRPr sz="3000" b="0">
                <a:solidFill>
                  <a:srgbClr val="0753D6"/>
                </a:solidFill>
                <a:latin typeface="Abadi"/>
                <a:ea typeface="Abadi"/>
                <a:cs typeface="Abadi"/>
              </a:defRPr>
            </a:lvl8pPr>
            <a:lvl9pPr>
              <a:defRPr sz="3000" b="0">
                <a:solidFill>
                  <a:srgbClr val="0753D6"/>
                </a:solidFill>
                <a:latin typeface="Abadi"/>
                <a:ea typeface="Abadi"/>
                <a:cs typeface="Abadi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753D6"/>
                </a:solidFill>
                <a:latin typeface="Abadi"/>
                <a:ea typeface="Abadi"/>
                <a:cs typeface="Abadi"/>
              </a:defRPr>
            </a:pPr>
            <a:r>
              <a:rPr sz="3000" b="0">
                <a:solidFill>
                  <a:srgbClr val="0753D6"/>
                </a:solidFill>
                <a:latin typeface="Abadi"/>
                <a:ea typeface="Abadi"/>
                <a:cs typeface="Abadi"/>
              </a:rPr>
              <a:t>GitHub Repository and Project Files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A3AF3-0FF8-43B6-A490-7A58933E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753D6"/>
                </a:solidFill>
                <a:latin typeface="Abadi"/>
                <a:ea typeface="Abadi"/>
                <a:cs typeface="Abadi"/>
              </a:defRPr>
            </a:defPPr>
            <a:lvl1pPr>
              <a:defRPr sz="2475" b="1">
                <a:solidFill>
                  <a:srgbClr val="0753D6"/>
                </a:solidFill>
                <a:latin typeface="Abadi"/>
                <a:ea typeface="Abadi"/>
                <a:cs typeface="Abadi"/>
              </a:defRPr>
            </a:lvl1pPr>
            <a:lvl2pPr>
              <a:defRPr sz="2475" b="1">
                <a:solidFill>
                  <a:srgbClr val="0753D6"/>
                </a:solidFill>
                <a:latin typeface="Abadi"/>
                <a:ea typeface="Abadi"/>
                <a:cs typeface="Abadi"/>
              </a:defRPr>
            </a:lvl2pPr>
            <a:lvl3pPr>
              <a:defRPr sz="2475" b="1">
                <a:solidFill>
                  <a:srgbClr val="0753D6"/>
                </a:solidFill>
                <a:latin typeface="Abadi"/>
                <a:ea typeface="Abadi"/>
                <a:cs typeface="Abadi"/>
              </a:defRPr>
            </a:lvl3pPr>
            <a:lvl4pPr>
              <a:defRPr sz="2475" b="1">
                <a:solidFill>
                  <a:srgbClr val="0753D6"/>
                </a:solidFill>
                <a:latin typeface="Abadi"/>
                <a:ea typeface="Abadi"/>
                <a:cs typeface="Abadi"/>
              </a:defRPr>
            </a:lvl4pPr>
            <a:lvl5pPr>
              <a:defRPr sz="2475" b="1">
                <a:solidFill>
                  <a:srgbClr val="0753D6"/>
                </a:solidFill>
                <a:latin typeface="Abadi"/>
                <a:ea typeface="Abadi"/>
                <a:cs typeface="Abadi"/>
              </a:defRPr>
            </a:lvl5pPr>
            <a:lvl6pPr>
              <a:defRPr sz="2475" b="1">
                <a:solidFill>
                  <a:srgbClr val="0753D6"/>
                </a:solidFill>
                <a:latin typeface="Abadi"/>
                <a:ea typeface="Abadi"/>
                <a:cs typeface="Abadi"/>
              </a:defRPr>
            </a:lvl6pPr>
            <a:lvl7pPr>
              <a:defRPr sz="2475" b="1">
                <a:solidFill>
                  <a:srgbClr val="0753D6"/>
                </a:solidFill>
                <a:latin typeface="Abadi"/>
                <a:ea typeface="Abadi"/>
                <a:cs typeface="Abadi"/>
              </a:defRPr>
            </a:lvl7pPr>
            <a:lvl8pPr>
              <a:defRPr sz="2475" b="1">
                <a:solidFill>
                  <a:srgbClr val="0753D6"/>
                </a:solidFill>
                <a:latin typeface="Abadi"/>
                <a:ea typeface="Abadi"/>
                <a:cs typeface="Abadi"/>
              </a:defRPr>
            </a:lvl8pPr>
            <a:lvl9pPr>
              <a:defRPr sz="2475" b="1">
                <a:solidFill>
                  <a:srgbClr val="0753D6"/>
                </a:solidFill>
                <a:latin typeface="Abadi"/>
                <a:ea typeface="Abadi"/>
                <a:cs typeface="Abad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753D6"/>
                </a:solidFill>
                <a:latin typeface="Abadi"/>
                <a:ea typeface="Abadi"/>
                <a:cs typeface="Abadi"/>
              </a:defRPr>
            </a:pPr>
            <a:r>
              <a:rPr sz="2475" b="1">
                <a:solidFill>
                  <a:srgbClr val="0753D6"/>
                </a:solidFill>
                <a:latin typeface="Abadi"/>
                <a:ea typeface="Abadi"/>
                <a:cs typeface="Abadi"/>
              </a:rPr>
              <a:t>GITHUB REPOSITORY LINK: TO BE ADDED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CE55D-8DE1-4CA1-978E-821A1DE1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0382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defPPr>
            <a:lvl1pPr>
              <a:defRPr sz="21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1pPr>
            <a:lvl2pPr>
              <a:defRPr sz="21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2pPr>
            <a:lvl3pPr>
              <a:defRPr sz="21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3pPr>
            <a:lvl4pPr>
              <a:defRPr sz="21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4pPr>
            <a:lvl5pPr>
              <a:defRPr sz="21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5pPr>
            <a:lvl6pPr>
              <a:defRPr sz="21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6pPr>
            <a:lvl7pPr>
              <a:defRPr sz="21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7pPr>
            <a:lvl8pPr>
              <a:defRPr sz="21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8pPr>
            <a:lvl9pPr>
              <a:defRPr sz="21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pPr>
            <a:r>
              <a:rPr sz="2175" b="0">
                <a:solidFill>
                  <a:srgbClr val="182B43"/>
                </a:solidFill>
                <a:latin typeface="Abadi"/>
                <a:ea typeface="Abadi"/>
                <a:cs typeface="Abadi"/>
              </a:rPr>
              <a:t>Upload all completed notebooks and Python files to your SpaceX repository.</a:t>
            </a:r>
          </a:p>
          <a:p xmlns:a="http://schemas.openxmlformats.org/drawingml/2006/main">
            <a:pPr>
              <a:defRPr sz="21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pPr>
            <a:r>
              <a:rPr sz="2175" b="0">
                <a:solidFill>
                  <a:srgbClr val="182B43"/>
                </a:solidFill>
                <a:latin typeface="Abadi"/>
                <a:ea typeface="Abadi"/>
                <a:cs typeface="Abadi"/>
              </a:rPr>
              <a:t>Add the exact public repository URL here before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pPr>
            <a:r>
              <a:rPr sz="2175" b="0">
                <a:solidFill>
                  <a:srgbClr val="182B43"/>
                </a:solidFill>
                <a:latin typeface="Abadi"/>
                <a:ea typeface="Abadi"/>
                <a:cs typeface="Abadi"/>
              </a:rPr>
              <a:t>Include the API, scraping, wrangling, EDA, SQL, Folium and ML notebooks, plus spacex_dash_app.py, data files and requirements.txt.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A266E-74B3-44B4-AFAD-FB26FDCB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defPPr>
            <a:lvl1pPr>
              <a:defRPr sz="12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1pPr>
            <a:lvl2pPr>
              <a:defRPr sz="12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2pPr>
            <a:lvl3pPr>
              <a:defRPr sz="12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3pPr>
            <a:lvl4pPr>
              <a:defRPr sz="12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4pPr>
            <a:lvl5pPr>
              <a:defRPr sz="12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5pPr>
            <a:lvl6pPr>
              <a:defRPr sz="12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6pPr>
            <a:lvl7pPr>
              <a:defRPr sz="12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7pPr>
            <a:lvl8pPr>
              <a:defRPr sz="12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8pPr>
            <a:lvl9pPr>
              <a:defRPr sz="12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82B43"/>
                </a:solidFill>
                <a:latin typeface="Abadi"/>
                <a:ea typeface="Abadi"/>
                <a:cs typeface="Abadi"/>
              </a:defRPr>
            </a:pPr>
            <a:r>
              <a:rPr sz="1275" b="0">
                <a:solidFill>
                  <a:srgbClr val="182B43"/>
                </a:solidFill>
                <a:latin typeface="Abadi"/>
                <a:ea typeface="Abadi"/>
                <a:cs typeface="Abadi"/>
              </a:rPr>
              <a:t>Repository URL left pending at the author’s request. This grading item is not yet satisfied.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B1BC4F-A13C-4082-973F-AA4989A2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48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85DF"/>
                </a:solidFill>
                <a:latin typeface="Abadi"/>
                <a:ea typeface="Abadi"/>
                <a:cs typeface="Abadi"/>
              </a:defRPr>
            </a:defPPr>
            <a:lvl1pPr>
              <a:defRPr sz="1650" b="0">
                <a:solidFill>
                  <a:srgbClr val="1685DF"/>
                </a:solidFill>
                <a:latin typeface="Abadi"/>
                <a:ea typeface="Abadi"/>
                <a:cs typeface="Abadi"/>
              </a:defRPr>
            </a:lvl1pPr>
            <a:lvl2pPr>
              <a:defRPr sz="1650" b="0">
                <a:solidFill>
                  <a:srgbClr val="1685DF"/>
                </a:solidFill>
                <a:latin typeface="Abadi"/>
                <a:ea typeface="Abadi"/>
                <a:cs typeface="Abadi"/>
              </a:defRPr>
            </a:lvl2pPr>
            <a:lvl3pPr>
              <a:defRPr sz="1650" b="0">
                <a:solidFill>
                  <a:srgbClr val="1685DF"/>
                </a:solidFill>
                <a:latin typeface="Abadi"/>
                <a:ea typeface="Abadi"/>
                <a:cs typeface="Abadi"/>
              </a:defRPr>
            </a:lvl3pPr>
            <a:lvl4pPr>
              <a:defRPr sz="1650" b="0">
                <a:solidFill>
                  <a:srgbClr val="1685DF"/>
                </a:solidFill>
                <a:latin typeface="Abadi"/>
                <a:ea typeface="Abadi"/>
                <a:cs typeface="Abadi"/>
              </a:defRPr>
            </a:lvl4pPr>
            <a:lvl5pPr>
              <a:defRPr sz="1650" b="0">
                <a:solidFill>
                  <a:srgbClr val="1685DF"/>
                </a:solidFill>
                <a:latin typeface="Abadi"/>
                <a:ea typeface="Abadi"/>
                <a:cs typeface="Abadi"/>
              </a:defRPr>
            </a:lvl5pPr>
            <a:lvl6pPr>
              <a:defRPr sz="1650" b="0">
                <a:solidFill>
                  <a:srgbClr val="1685DF"/>
                </a:solidFill>
                <a:latin typeface="Abadi"/>
                <a:ea typeface="Abadi"/>
                <a:cs typeface="Abadi"/>
              </a:defRPr>
            </a:lvl6pPr>
            <a:lvl7pPr>
              <a:defRPr sz="1650" b="0">
                <a:solidFill>
                  <a:srgbClr val="1685DF"/>
                </a:solidFill>
                <a:latin typeface="Abadi"/>
                <a:ea typeface="Abadi"/>
                <a:cs typeface="Abadi"/>
              </a:defRPr>
            </a:lvl7pPr>
            <a:lvl8pPr>
              <a:defRPr sz="1650" b="0">
                <a:solidFill>
                  <a:srgbClr val="1685DF"/>
                </a:solidFill>
                <a:latin typeface="Abadi"/>
                <a:ea typeface="Abadi"/>
                <a:cs typeface="Abadi"/>
              </a:defRPr>
            </a:lvl8pPr>
            <a:lvl9pPr>
              <a:defRPr sz="1650" b="0">
                <a:solidFill>
                  <a:srgbClr val="1685DF"/>
                </a:solidFill>
                <a:latin typeface="Abadi"/>
                <a:ea typeface="Abadi"/>
                <a:cs typeface="Abad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85DF"/>
                </a:solidFill>
                <a:latin typeface="Abadi"/>
                <a:ea typeface="Abadi"/>
                <a:cs typeface="Abadi"/>
              </a:defRPr>
            </a:pPr>
            <a:r>
              <a:rPr sz="1650" b="0">
                <a:solidFill>
                  <a:srgbClr val="1685DF"/>
                </a:solidFill>
                <a:latin typeface="Abadi"/>
                <a:ea typeface="Abadi"/>
                <a:cs typeface="Abad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2026-10-27T13:58:13.2980000Z</dcterms:created>
  <dcterms:modified xsi:type="dcterms:W3CDTF">2026-10-27T13:58:13.3010000Z</dcterms:modified>
</coreProperties>
</file>